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9"/>
  </p:notesMasterIdLst>
  <p:handoutMasterIdLst>
    <p:handoutMasterId r:id="rId20"/>
  </p:handoutMasterIdLst>
  <p:sldIdLst>
    <p:sldId id="531" r:id="rId2"/>
    <p:sldId id="289" r:id="rId3"/>
    <p:sldId id="292" r:id="rId4"/>
    <p:sldId id="294" r:id="rId5"/>
    <p:sldId id="533" r:id="rId6"/>
    <p:sldId id="534" r:id="rId7"/>
    <p:sldId id="298" r:id="rId8"/>
    <p:sldId id="532" r:id="rId9"/>
    <p:sldId id="302" r:id="rId10"/>
    <p:sldId id="540" r:id="rId11"/>
    <p:sldId id="536" r:id="rId12"/>
    <p:sldId id="538" r:id="rId13"/>
    <p:sldId id="542" r:id="rId14"/>
    <p:sldId id="539" r:id="rId15"/>
    <p:sldId id="541" r:id="rId16"/>
    <p:sldId id="307" r:id="rId17"/>
    <p:sldId id="301" r:id="rId18"/>
  </p:sldIdLst>
  <p:sldSz cx="12192000" cy="6858000"/>
  <p:notesSz cx="6858000" cy="9144000"/>
  <p:embeddedFontLst>
    <p:embeddedFont>
      <p:font typeface="Aharoni" panose="02010803020104030203" pitchFamily="2" charset="-79"/>
      <p:bold r:id="rId21"/>
    </p:embeddedFont>
    <p:embeddedFont>
      <p:font typeface="Arial Rounded MT Bold" panose="020F0704030504030204" pitchFamily="34" charset="0"/>
      <p:regular r:id="rId22"/>
    </p:embeddedFont>
    <p:embeddedFont>
      <p:font typeface="Montserrat" panose="00000500000000000000" pitchFamily="2" charset="0"/>
      <p:regular r:id="rId23"/>
      <p:bold r:id="rId24"/>
      <p:italic r:id="rId25"/>
      <p:boldItalic r:id="rId26"/>
    </p:embeddedFont>
    <p:embeddedFont>
      <p:font typeface="Montserrat Medium" panose="00000600000000000000" pitchFamily="2" charset="0"/>
      <p:regular r:id="rId27"/>
      <p:italic r:id="rId28"/>
    </p:embeddedFont>
    <p:embeddedFont>
      <p:font typeface="Open Sans" panose="020B0606030504020204" pitchFamily="34" charset="0"/>
      <p:regular r:id="rId29"/>
      <p:bold r:id="rId30"/>
      <p:italic r:id="rId31"/>
      <p:boldItalic r:id="rId32"/>
    </p:embeddedFont>
    <p:embeddedFont>
      <p:font typeface="Plus Jakarta Sans" panose="020B0604020202020204"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custDataLst>
    <p:tags r:id="rId4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60"/>
  </p:normalViewPr>
  <p:slideViewPr>
    <p:cSldViewPr snapToGrid="0">
      <p:cViewPr>
        <p:scale>
          <a:sx n="66" d="100"/>
          <a:sy n="66" d="100"/>
        </p:scale>
        <p:origin x="768" y="1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tags" Target="tags/tag1.xml"/><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handoutMaster" Target="handoutMasters/handoutMaster1.xml"/><Relationship Id="rId41" Type="http://schemas.openxmlformats.org/officeDocument/2006/relationships/font" Target="fonts/font21.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21-11-2025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riscvarchive/riscv-cores-list"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9.xml"/><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4.jpg"/><Relationship Id="rId1" Type="http://schemas.openxmlformats.org/officeDocument/2006/relationships/slideLayout" Target="../slideLayouts/slideLayout9.xml"/><Relationship Id="rId5" Type="http://schemas.openxmlformats.org/officeDocument/2006/relationships/image" Target="../media/image16.jpg"/><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7409"/>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4109062"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H Sahana – BU22EECE0100475</a:t>
            </a:r>
          </a:p>
          <a:p>
            <a:pPr marL="285750" indent="-285750" algn="ctr">
              <a:buSzPts val="1400"/>
              <a:buFont typeface="Arial" panose="020B0604020202020204" pitchFamily="34" charset="0"/>
              <a:buChar char="•"/>
            </a:pPr>
            <a:r>
              <a:rPr lang="en-US" b="1" dirty="0">
                <a:solidFill>
                  <a:schemeClr val="dk1"/>
                </a:solidFill>
                <a:latin typeface="Montserrat Medium"/>
                <a:sym typeface="Montserrat Medium"/>
              </a:rPr>
              <a:t>Priyanka G-BU22EECE0100446</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Dr  M Arun Kumar</a:t>
            </a:r>
            <a:endParaRPr lang="en-US" sz="1400" b="1" i="0" u="none" strike="noStrike" cap="none" dirty="0">
              <a:solidFill>
                <a:schemeClr val="dk1"/>
              </a:solidFill>
              <a:latin typeface="Montserrat Medium"/>
              <a:ea typeface="Arial"/>
              <a:cs typeface="Arial"/>
              <a:sym typeface="Montserrat Medium"/>
            </a:endParaRP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Dr Subhashish Tiwari</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2221992" y="115678"/>
            <a:ext cx="7065940" cy="1384954"/>
          </a:xfrm>
          <a:prstGeom prst="rect">
            <a:avLst/>
          </a:prstGeom>
          <a:noFill/>
          <a:ln>
            <a:noFill/>
          </a:ln>
        </p:spPr>
        <p:txBody>
          <a:bodyPr spcFirstLastPara="1" wrap="square" lIns="91425" tIns="45700" rIns="91425" bIns="45700" anchor="t" anchorCtr="0">
            <a:spAutoFit/>
          </a:bodyPr>
          <a:lstStyle/>
          <a:p>
            <a:pPr lvl="0" algn="ctr"/>
            <a:r>
              <a:rPr lang="en-US" sz="2800" b="1" dirty="0">
                <a:solidFill>
                  <a:srgbClr val="007069"/>
                </a:solidFill>
                <a:latin typeface="Open Sans"/>
                <a:ea typeface="Open Sans"/>
                <a:cs typeface="Open Sans"/>
                <a:sym typeface="Open Sans"/>
              </a:rPr>
              <a:t>EEG Signal Acquisition and alert system for Sleeping disorder patients using RISC-V Processor on FPGA</a:t>
            </a:r>
            <a:endParaRPr lang="en-US" sz="2800" dirty="0"/>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68361"/>
            <a:ext cx="9943179" cy="3754874"/>
          </a:xfrm>
          <a:prstGeom prst="rect">
            <a:avLst/>
          </a:prstGeom>
          <a:noFill/>
        </p:spPr>
        <p:txBody>
          <a:bodyPr wrap="square" rtlCol="0">
            <a:spAutoFit/>
          </a:bodyPr>
          <a:lstStyle/>
          <a:p>
            <a:pPr marL="285750" indent="-285750" algn="just">
              <a:buFont typeface="Wingdings" panose="05000000000000000000" pitchFamily="2" charset="2"/>
              <a:buChar char="q"/>
            </a:pPr>
            <a:r>
              <a:rPr lang="en-IN" dirty="0"/>
              <a:t> </a:t>
            </a:r>
            <a:r>
              <a:rPr lang="en-IN" dirty="0">
                <a:latin typeface="Verdana" panose="020B0604030504040204" pitchFamily="34" charset="0"/>
                <a:ea typeface="Verdana" panose="020B0604030504040204" pitchFamily="34" charset="0"/>
                <a:cs typeface="Times New Roman" panose="02020603050405020304" pitchFamily="18" charset="0"/>
              </a:rPr>
              <a:t>Acquire brainwave signals (EEG) using external electrodes and preprocess them (filtering, noise removal, amplification) for reliable input into the FPGA-based RISC-V processor. </a:t>
            </a:r>
          </a:p>
          <a:p>
            <a:pPr marL="285750" indent="-285750" algn="just">
              <a:buFont typeface="Wingdings" panose="05000000000000000000" pitchFamily="2" charset="2"/>
              <a:buChar char="q"/>
            </a:pPr>
            <a:endParaRPr lang="en-IN" dirty="0">
              <a:latin typeface="Verdana" panose="020B0604030504040204" pitchFamily="34" charset="0"/>
              <a:ea typeface="Verdana" panose="020B0604030504040204" pitchFamily="34" charset="0"/>
              <a:cs typeface="Times New Roman" panose="02020603050405020304" pitchFamily="18" charset="0"/>
            </a:endParaRPr>
          </a:p>
          <a:p>
            <a:pPr marL="285750" indent="-285750" algn="just">
              <a:buFont typeface="Wingdings" panose="05000000000000000000" pitchFamily="2" charset="2"/>
              <a:buChar char="q"/>
            </a:pPr>
            <a:r>
              <a:rPr lang="en-IN" dirty="0">
                <a:latin typeface="Verdana" panose="020B0604030504040204" pitchFamily="34" charset="0"/>
                <a:ea typeface="Verdana" panose="020B0604030504040204" pitchFamily="34" charset="0"/>
                <a:cs typeface="Times New Roman" panose="02020603050405020304" pitchFamily="18" charset="0"/>
              </a:rPr>
              <a:t>To implement real-time EEG signal analysis (e.g., detection of abnormal patterns like sleep </a:t>
            </a:r>
            <a:r>
              <a:rPr lang="en-IN" dirty="0" err="1">
                <a:latin typeface="Verdana" panose="020B0604030504040204" pitchFamily="34" charset="0"/>
                <a:ea typeface="Verdana" panose="020B0604030504040204" pitchFamily="34" charset="0"/>
                <a:cs typeface="Times New Roman" panose="02020603050405020304" pitchFamily="18" charset="0"/>
              </a:rPr>
              <a:t>apnea</a:t>
            </a:r>
            <a:r>
              <a:rPr lang="en-IN" dirty="0">
                <a:latin typeface="Verdana" panose="020B0604030504040204" pitchFamily="34" charset="0"/>
                <a:ea typeface="Verdana" panose="020B0604030504040204" pitchFamily="34" charset="0"/>
                <a:cs typeface="Times New Roman" panose="02020603050405020304" pitchFamily="18" charset="0"/>
              </a:rPr>
              <a:t> or insomnia indicators) using a RISC-V processor on FPGA for faster computation compared to software-only methods.</a:t>
            </a:r>
            <a:r>
              <a:rPr lang="en-US" dirty="0">
                <a:latin typeface="Verdana" panose="020B0604030504040204" pitchFamily="34" charset="0"/>
                <a:ea typeface="Verdana" panose="020B0604030504040204" pitchFamily="34" charset="0"/>
                <a:cs typeface="Times New Roman" panose="02020603050405020304" pitchFamily="18" charset="0"/>
              </a:rPr>
              <a:t> </a:t>
            </a:r>
          </a:p>
          <a:p>
            <a:pPr marL="285750" indent="-285750" algn="just">
              <a:buFont typeface="Wingdings" panose="05000000000000000000" pitchFamily="2" charset="2"/>
              <a:buChar char="q"/>
            </a:pPr>
            <a:endParaRPr lang="en-US" dirty="0">
              <a:latin typeface="Verdana" panose="020B0604030504040204" pitchFamily="34" charset="0"/>
              <a:ea typeface="Verdana" panose="020B0604030504040204" pitchFamily="34" charset="0"/>
              <a:cs typeface="Times New Roman" panose="02020603050405020304" pitchFamily="18" charset="0"/>
            </a:endParaRPr>
          </a:p>
          <a:p>
            <a:pPr marL="285750" indent="-285750" algn="just">
              <a:buFont typeface="Wingdings" panose="05000000000000000000" pitchFamily="2" charset="2"/>
              <a:buChar char="q"/>
            </a:pPr>
            <a:r>
              <a:rPr lang="en-US" dirty="0">
                <a:latin typeface="Verdana" panose="020B0604030504040204" pitchFamily="34" charset="0"/>
                <a:ea typeface="Verdana" panose="020B0604030504040204" pitchFamily="34" charset="0"/>
                <a:cs typeface="Times New Roman" panose="02020603050405020304" pitchFamily="18" charset="0"/>
              </a:rPr>
              <a:t>To design an alert mechanism (visual via LEDs/7-segment display or auditory via buzzer) that notifies caregivers or patients in case of detected abnormalities in EEG patterns related to sleeping disorders</a:t>
            </a:r>
            <a:r>
              <a:rPr lang="en-US" dirty="0">
                <a:latin typeface="Verdana" panose="020B0604030504040204" pitchFamily="34" charset="0"/>
                <a:ea typeface="Verdana" panose="020B0604030504040204" pitchFamily="34" charset="0"/>
              </a:rPr>
              <a:t>.</a:t>
            </a:r>
            <a:endParaRPr lang="en-IN" dirty="0">
              <a:latin typeface="Verdana" panose="020B0604030504040204" pitchFamily="34" charset="0"/>
              <a:ea typeface="Verdana" panose="020B0604030504040204" pitchFamily="34" charset="0"/>
            </a:endParaRPr>
          </a:p>
          <a:p>
            <a:pPr marL="285750" indent="-285750" algn="just">
              <a:buFont typeface="Wingdings" panose="05000000000000000000" pitchFamily="2" charset="2"/>
              <a:buChar char="q"/>
            </a:pPr>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4" name="TextBox 3">
            <a:extLst>
              <a:ext uri="{FF2B5EF4-FFF2-40B4-BE49-F238E27FC236}">
                <a16:creationId xmlns:a16="http://schemas.microsoft.com/office/drawing/2014/main" id="{750F3A38-9F94-CA05-8DB8-ADFB02BAA1D7}"/>
              </a:ext>
            </a:extLst>
          </p:cNvPr>
          <p:cNvSpPr txBox="1"/>
          <p:nvPr/>
        </p:nvSpPr>
        <p:spPr>
          <a:xfrm>
            <a:off x="1000124" y="3782337"/>
            <a:ext cx="9606916" cy="2893100"/>
          </a:xfrm>
          <a:prstGeom prst="rect">
            <a:avLst/>
          </a:prstGeom>
          <a:noFill/>
        </p:spPr>
        <p:txBody>
          <a:bodyPr wrap="square">
            <a:spAutoFit/>
          </a:bodyPr>
          <a:lstStyle/>
          <a:p>
            <a:r>
              <a:rPr lang="en-IN" b="1" dirty="0">
                <a:latin typeface="Verdana" panose="020B0604030504040204" pitchFamily="34" charset="0"/>
                <a:ea typeface="Verdana" panose="020B0604030504040204" pitchFamily="34" charset="0"/>
              </a:rPr>
              <a:t>Main Goals</a:t>
            </a:r>
            <a:r>
              <a:rPr lang="en-IN" dirty="0">
                <a:latin typeface="Verdana" panose="020B0604030504040204" pitchFamily="34" charset="0"/>
                <a:ea typeface="Verdana" panose="020B0604030504040204" pitchFamily="34" charset="0"/>
              </a:rPr>
              <a:t>:</a:t>
            </a:r>
          </a:p>
          <a:p>
            <a:pPr marL="285750" indent="-285750">
              <a:buFont typeface="Wingdings" panose="05000000000000000000" pitchFamily="2" charset="2"/>
              <a:buChar char="q"/>
            </a:pPr>
            <a:r>
              <a:rPr lang="en-US" dirty="0">
                <a:latin typeface="Verdana" panose="020B0604030504040204" pitchFamily="34" charset="0"/>
                <a:ea typeface="Verdana" panose="020B0604030504040204" pitchFamily="34" charset="0"/>
              </a:rPr>
              <a:t>Capture and process EEG signals in real time using an FPGA-based RISC-V processor.</a:t>
            </a:r>
          </a:p>
          <a:p>
            <a:pPr marL="285750" indent="-285750">
              <a:buFont typeface="Wingdings" panose="05000000000000000000" pitchFamily="2" charset="2"/>
              <a:buChar char="q"/>
            </a:pPr>
            <a:endParaRPr lang="en-US"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IN" dirty="0">
                <a:latin typeface="Verdana" panose="020B0604030504040204" pitchFamily="34" charset="0"/>
                <a:ea typeface="Verdana" panose="020B0604030504040204" pitchFamily="34" charset="0"/>
              </a:rPr>
              <a:t>Detect abnormal brainwave patterns linked to sleep disorders (</a:t>
            </a:r>
            <a:r>
              <a:rPr lang="en-IN" dirty="0" err="1">
                <a:latin typeface="Verdana" panose="020B0604030504040204" pitchFamily="34" charset="0"/>
                <a:ea typeface="Verdana" panose="020B0604030504040204" pitchFamily="34" charset="0"/>
              </a:rPr>
              <a:t>apnea</a:t>
            </a:r>
            <a:r>
              <a:rPr lang="en-IN" dirty="0">
                <a:latin typeface="Verdana" panose="020B0604030504040204" pitchFamily="34" charset="0"/>
                <a:ea typeface="Verdana" panose="020B0604030504040204" pitchFamily="34" charset="0"/>
              </a:rPr>
              <a:t>, insomnia).</a:t>
            </a:r>
          </a:p>
          <a:p>
            <a:pPr marL="285750" indent="-285750">
              <a:buFont typeface="Wingdings" panose="05000000000000000000" pitchFamily="2" charset="2"/>
              <a:buChar char="q"/>
            </a:pPr>
            <a:endParaRPr lang="en-IN"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dirty="0">
                <a:latin typeface="Verdana" panose="020B0604030504040204" pitchFamily="34" charset="0"/>
                <a:ea typeface="Verdana" panose="020B0604030504040204" pitchFamily="34" charset="0"/>
              </a:rPr>
              <a:t>Provide timely visual/audio alerts to patients or caregivers to prevent risks.</a:t>
            </a:r>
            <a:r>
              <a:rPr lang="en-IN" dirty="0">
                <a:latin typeface="Verdana" panose="020B0604030504040204" pitchFamily="34" charset="0"/>
                <a:ea typeface="Verdana" panose="020B0604030504040204" pitchFamily="34" charset="0"/>
              </a:rPr>
              <a:t> </a:t>
            </a:r>
          </a:p>
          <a:p>
            <a:pPr marL="285750" indent="-285750">
              <a:buFont typeface="Wingdings" panose="05000000000000000000" pitchFamily="2" charset="2"/>
              <a:buChar char="q"/>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Additional Goals</a:t>
            </a:r>
            <a:r>
              <a:rPr lang="en-IN" dirty="0">
                <a:latin typeface="Verdana" panose="020B0604030504040204" pitchFamily="34" charset="0"/>
                <a:ea typeface="Verdana" panose="020B0604030504040204" pitchFamily="34" charset="0"/>
              </a:rPr>
              <a:t>:</a:t>
            </a:r>
          </a:p>
          <a:p>
            <a:pPr marL="285750" indent="-285750">
              <a:buFont typeface="Wingdings" panose="05000000000000000000" pitchFamily="2" charset="2"/>
              <a:buChar char="q"/>
            </a:pPr>
            <a:r>
              <a:rPr lang="en-US" dirty="0">
                <a:latin typeface="Verdana" panose="020B0604030504040204" pitchFamily="34" charset="0"/>
                <a:ea typeface="Verdana" panose="020B0604030504040204" pitchFamily="34" charset="0"/>
              </a:rPr>
              <a:t>Ensure low-power and cost-efficient design for continuous patient monitoring.</a:t>
            </a:r>
          </a:p>
          <a:p>
            <a:pPr marL="285750" indent="-285750">
              <a:buFont typeface="Wingdings" panose="05000000000000000000" pitchFamily="2" charset="2"/>
              <a:buChar char="q"/>
            </a:pPr>
            <a:endParaRPr lang="en-US"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US" dirty="0">
                <a:latin typeface="Verdana" panose="020B0604030504040204" pitchFamily="34" charset="0"/>
                <a:ea typeface="Verdana" panose="020B0604030504040204" pitchFamily="34" charset="0"/>
              </a:rPr>
              <a:t>Enable easy data logging and visualization for doctors to support diagnosis</a:t>
            </a:r>
            <a:r>
              <a:rPr lang="en-US" dirty="0"/>
              <a:t>.</a:t>
            </a:r>
            <a:endParaRPr lang="en-IN"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endParaRPr lang="en-US"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 (Clearly mention milestone for objectives under each reviews)</a:t>
            </a:r>
            <a:endParaRPr dirty="0"/>
          </a:p>
        </p:txBody>
      </p:sp>
      <p:pic>
        <p:nvPicPr>
          <p:cNvPr id="6" name="Picture 5">
            <a:extLst>
              <a:ext uri="{FF2B5EF4-FFF2-40B4-BE49-F238E27FC236}">
                <a16:creationId xmlns:a16="http://schemas.microsoft.com/office/drawing/2014/main" id="{32EE38DB-CE9F-3BC7-674A-B188277081D4}"/>
              </a:ext>
            </a:extLst>
          </p:cNvPr>
          <p:cNvPicPr>
            <a:picLocks noChangeAspect="1"/>
          </p:cNvPicPr>
          <p:nvPr/>
        </p:nvPicPr>
        <p:blipFill>
          <a:blip r:embed="rId3"/>
          <a:stretch>
            <a:fillRect/>
          </a:stretch>
        </p:blipFill>
        <p:spPr>
          <a:xfrm>
            <a:off x="1439445" y="990797"/>
            <a:ext cx="9313109" cy="4876406"/>
          </a:xfrm>
          <a:prstGeom prst="rect">
            <a:avLst/>
          </a:prstGeom>
        </p:spPr>
      </p:pic>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Publications </a:t>
            </a:r>
          </a:p>
          <a:p>
            <a:pPr marL="285750" lvl="0" indent="-285750">
              <a:buFont typeface="Arial" panose="020B0604020202020204" pitchFamily="34" charset="0"/>
              <a:buChar char="•"/>
            </a:pPr>
            <a:r>
              <a:rPr lang="en-IN" dirty="0">
                <a:latin typeface="Verdana" panose="020B0604030504040204" pitchFamily="34" charset="0"/>
                <a:ea typeface="Verdana" panose="020B0604030504040204" pitchFamily="34" charset="0"/>
              </a:rPr>
              <a:t>Krithiga Sree, R., &amp; </a:t>
            </a:r>
            <a:r>
              <a:rPr lang="en-IN" dirty="0" err="1">
                <a:latin typeface="Verdana" panose="020B0604030504040204" pitchFamily="34" charset="0"/>
                <a:ea typeface="Verdana" panose="020B0604030504040204" pitchFamily="34" charset="0"/>
              </a:rPr>
              <a:t>Somasundareswari</a:t>
            </a:r>
            <a:r>
              <a:rPr lang="en-IN" dirty="0">
                <a:latin typeface="Verdana" panose="020B0604030504040204" pitchFamily="34" charset="0"/>
                <a:ea typeface="Verdana" panose="020B0604030504040204" pitchFamily="34" charset="0"/>
              </a:rPr>
              <a:t>, D. (2024). Sleep </a:t>
            </a:r>
            <a:r>
              <a:rPr lang="en-IN" dirty="0" err="1">
                <a:latin typeface="Verdana" panose="020B0604030504040204" pitchFamily="34" charset="0"/>
                <a:ea typeface="Verdana" panose="020B0604030504040204" pitchFamily="34" charset="0"/>
              </a:rPr>
              <a:t>Apnea</a:t>
            </a:r>
            <a:r>
              <a:rPr lang="en-IN" dirty="0">
                <a:latin typeface="Verdana" panose="020B0604030504040204" pitchFamily="34" charset="0"/>
                <a:ea typeface="Verdana" panose="020B0604030504040204" pitchFamily="34" charset="0"/>
              </a:rPr>
              <a:t> Detection Based on FPGA Using EEG Signals. IRJMET, Vol. 6, Issue 7</a:t>
            </a:r>
          </a:p>
          <a:p>
            <a:pPr marL="285750" lvl="0" indent="-285750">
              <a:buFont typeface="Arial" panose="020B0604020202020204" pitchFamily="34" charset="0"/>
              <a:buChar char="•"/>
            </a:pPr>
            <a:r>
              <a:rPr lang="en-US" dirty="0">
                <a:latin typeface="Verdana" panose="020B0604030504040204" pitchFamily="34" charset="0"/>
                <a:ea typeface="Verdana" panose="020B0604030504040204" pitchFamily="34" charset="0"/>
              </a:rPr>
              <a:t>de Chazal, P., et al. (2003). Automatic classification of sleep apnea from ECG signals. IEEE Transactions on Biomedical Engineering.</a:t>
            </a:r>
          </a:p>
          <a:p>
            <a:pPr marL="285750" lvl="0" indent="-285750">
              <a:buFont typeface="Arial" panose="020B0604020202020204" pitchFamily="34" charset="0"/>
              <a:buChar char="•"/>
            </a:pPr>
            <a:r>
              <a:rPr lang="en-US" dirty="0">
                <a:latin typeface="Verdana" panose="020B0604030504040204" pitchFamily="34" charset="0"/>
                <a:ea typeface="Verdana" panose="020B0604030504040204" pitchFamily="34" charset="0"/>
              </a:rPr>
              <a:t>Seo, H., et al. (2020). Sleep quality assessment using wearable ECG-based monitoring.</a:t>
            </a:r>
          </a:p>
          <a:p>
            <a:pPr marL="285750" lvl="0" indent="-285750">
              <a:buFont typeface="Arial" panose="020B0604020202020204" pitchFamily="34" charset="0"/>
              <a:buChar char="•"/>
            </a:pPr>
            <a:r>
              <a:rPr lang="en-US" dirty="0">
                <a:latin typeface="Verdana" panose="020B0604030504040204" pitchFamily="34" charset="0"/>
                <a:ea typeface="Verdana" panose="020B0604030504040204" pitchFamily="34" charset="0"/>
              </a:rPr>
              <a:t>Naveed, M. Z., Amar, M., Hussain, A., &amp; Awan, Z. A. (2024). Design &amp; Implementation of 5-Stage 32-bit RISC-V Pipeline Processor on FPGA. 9th MDSRIC, Pakistan</a:t>
            </a:r>
          </a:p>
          <a:p>
            <a:pPr marL="285750" lvl="0" indent="-285750">
              <a:buFont typeface="Arial" panose="020B0604020202020204" pitchFamily="34" charset="0"/>
              <a:buChar char="•"/>
            </a:pPr>
            <a:r>
              <a:rPr lang="en-IN" dirty="0">
                <a:latin typeface="Verdana" panose="020B0604030504040204" pitchFamily="34" charset="0"/>
                <a:ea typeface="Verdana" panose="020B0604030504040204" pitchFamily="34" charset="0"/>
              </a:rPr>
              <a:t>Ngu Teck Joung, D. (2023). Design and Simulate RISC-V Processor using Verilog. Master’s Dissertation, </a:t>
            </a:r>
            <a:r>
              <a:rPr lang="en-IN" dirty="0" err="1">
                <a:latin typeface="Verdana" panose="020B0604030504040204" pitchFamily="34" charset="0"/>
                <a:ea typeface="Verdana" panose="020B0604030504040204" pitchFamily="34" charset="0"/>
              </a:rPr>
              <a:t>Universiti</a:t>
            </a:r>
            <a:r>
              <a:rPr lang="en-IN" dirty="0">
                <a:latin typeface="Verdana" panose="020B0604030504040204" pitchFamily="34" charset="0"/>
                <a:ea typeface="Verdana" panose="020B0604030504040204" pitchFamily="34" charset="0"/>
              </a:rPr>
              <a:t> </a:t>
            </a:r>
            <a:r>
              <a:rPr lang="en-IN" dirty="0" err="1">
                <a:latin typeface="Verdana" panose="020B0604030504040204" pitchFamily="34" charset="0"/>
                <a:ea typeface="Verdana" panose="020B0604030504040204" pitchFamily="34" charset="0"/>
              </a:rPr>
              <a:t>Tunku</a:t>
            </a:r>
            <a:r>
              <a:rPr lang="en-IN" dirty="0">
                <a:latin typeface="Verdana" panose="020B0604030504040204" pitchFamily="34" charset="0"/>
                <a:ea typeface="Verdana" panose="020B0604030504040204" pitchFamily="34" charset="0"/>
              </a:rPr>
              <a:t> Abdul Rahman</a:t>
            </a:r>
          </a:p>
          <a:p>
            <a:pPr marL="285750" lvl="0" indent="-285750">
              <a:buFont typeface="Arial" panose="020B0604020202020204" pitchFamily="34" charset="0"/>
              <a:buChar char="•"/>
            </a:pPr>
            <a:r>
              <a:rPr lang="en-US" dirty="0">
                <a:latin typeface="Verdana" panose="020B0604030504040204" pitchFamily="34" charset="0"/>
                <a:ea typeface="Verdana" panose="020B0604030504040204" pitchFamily="34" charset="0"/>
              </a:rPr>
              <a:t>Khairullah, S. S. (2022). Hardware realization of a 5-stage 16-bit RISC processor on FPGA.</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Resources – Whitepaper| Application Notes |  Datasheet| Others</a:t>
            </a:r>
          </a:p>
          <a:p>
            <a:pPr marL="285750" lvl="0" indent="-285750">
              <a:buFont typeface="Arial" panose="020B0604020202020204" pitchFamily="34" charset="0"/>
              <a:buChar char="•"/>
            </a:pPr>
            <a:r>
              <a:rPr lang="en-IN" dirty="0">
                <a:latin typeface="Verdana" panose="020B0604030504040204" pitchFamily="34" charset="0"/>
                <a:ea typeface="Verdana" panose="020B0604030504040204" pitchFamily="34" charset="0"/>
              </a:rPr>
              <a:t>Xilinx </a:t>
            </a:r>
            <a:r>
              <a:rPr lang="en-IN" dirty="0" err="1">
                <a:latin typeface="Verdana" panose="020B0604030504040204" pitchFamily="34" charset="0"/>
                <a:ea typeface="Verdana" panose="020B0604030504040204" pitchFamily="34" charset="0"/>
              </a:rPr>
              <a:t>Vivado</a:t>
            </a:r>
            <a:r>
              <a:rPr lang="en-IN" dirty="0">
                <a:latin typeface="Verdana" panose="020B0604030504040204" pitchFamily="34" charset="0"/>
                <a:ea typeface="Verdana" panose="020B0604030504040204" pitchFamily="34" charset="0"/>
              </a:rPr>
              <a:t> Design Suite Documentation (for simulation and FPGA synthesis).</a:t>
            </a:r>
          </a:p>
          <a:p>
            <a:pPr marL="285750" lvl="0" indent="-285750">
              <a:buFont typeface="Arial" panose="020B0604020202020204" pitchFamily="34" charset="0"/>
              <a:buChar char="•"/>
            </a:pPr>
            <a:r>
              <a:rPr lang="en-IN" dirty="0">
                <a:latin typeface="Verdana" panose="020B0604030504040204" pitchFamily="34" charset="0"/>
                <a:ea typeface="Verdana" panose="020B0604030504040204" pitchFamily="34" charset="0"/>
              </a:rPr>
              <a:t>Xilinx </a:t>
            </a:r>
            <a:r>
              <a:rPr lang="en-IN" dirty="0" err="1">
                <a:latin typeface="Verdana" panose="020B0604030504040204" pitchFamily="34" charset="0"/>
                <a:ea typeface="Verdana" panose="020B0604030504040204" pitchFamily="34" charset="0"/>
              </a:rPr>
              <a:t>Vivado</a:t>
            </a:r>
            <a:r>
              <a:rPr lang="en-IN" dirty="0">
                <a:latin typeface="Verdana" panose="020B0604030504040204" pitchFamily="34" charset="0"/>
                <a:ea typeface="Verdana" panose="020B0604030504040204" pitchFamily="34" charset="0"/>
              </a:rPr>
              <a:t> Documentation for FPGA-based implementation.</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Existing Implementations – Products| Opensource| GitHub etc </a:t>
            </a:r>
          </a:p>
          <a:p>
            <a:pPr marL="285750" lvl="0" indent="-285750">
              <a:buFont typeface="Arial" panose="020B0604020202020204" pitchFamily="34" charset="0"/>
              <a:buChar char="•"/>
            </a:pPr>
            <a:r>
              <a:rPr lang="en-IN" dirty="0">
                <a:latin typeface="Verdana" panose="020B0604030504040204" pitchFamily="34" charset="0"/>
                <a:ea typeface="Verdana" panose="020B0604030504040204" pitchFamily="34" charset="0"/>
              </a:rPr>
              <a:t>Open-source RISC-V cores on GitHub (</a:t>
            </a:r>
            <a:r>
              <a:rPr lang="en-IN" dirty="0">
                <a:latin typeface="Verdana" panose="020B0604030504040204" pitchFamily="34" charset="0"/>
                <a:ea typeface="Verdana" panose="020B0604030504040204" pitchFamily="34" charset="0"/>
                <a:hlinkClick r:id="rId2" tooltip="https://github.com/riscvarchive/riscv-cores-list"/>
              </a:rPr>
              <a:t>https://github.com/riscvarchive/riscv-cores-list</a:t>
            </a:r>
            <a:r>
              <a:rPr lang="en-IN" dirty="0">
                <a:latin typeface="Verdana" panose="020B0604030504040204" pitchFamily="34" charset="0"/>
                <a:ea typeface="Verdana" panose="020B0604030504040204" pitchFamily="34" charset="0"/>
              </a:rPr>
              <a:t>)</a:t>
            </a:r>
          </a:p>
          <a:p>
            <a:pPr marL="285750" lvl="0" indent="-285750">
              <a:buFont typeface="Arial" panose="020B0604020202020204" pitchFamily="34" charset="0"/>
              <a:buChar char="•"/>
            </a:pPr>
            <a:r>
              <a:rPr lang="en-US" dirty="0">
                <a:latin typeface="Verdana" panose="020B0604030504040204" pitchFamily="34" charset="0"/>
                <a:ea typeface="Verdana" panose="020B0604030504040204" pitchFamily="34" charset="0"/>
              </a:rPr>
              <a:t>Wearable EEG headbands (e.g., Muse, </a:t>
            </a:r>
            <a:r>
              <a:rPr lang="en-US" dirty="0" err="1">
                <a:latin typeface="Verdana" panose="020B0604030504040204" pitchFamily="34" charset="0"/>
                <a:ea typeface="Verdana" panose="020B0604030504040204" pitchFamily="34" charset="0"/>
              </a:rPr>
              <a:t>Emotiv</a:t>
            </a:r>
            <a:r>
              <a:rPr lang="en-US" dirty="0">
                <a:latin typeface="Verdana" panose="020B0604030504040204" pitchFamily="34" charset="0"/>
                <a:ea typeface="Verdana" panose="020B0604030504040204" pitchFamily="34" charset="0"/>
              </a:rPr>
              <a:t>).</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253824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35EE753C-FD23-297C-2A5E-5551449E012A}"/>
              </a:ext>
            </a:extLst>
          </p:cNvPr>
          <p:cNvGraphicFramePr>
            <a:graphicFrameLocks noGrp="1"/>
          </p:cNvGraphicFramePr>
          <p:nvPr>
            <p:extLst>
              <p:ext uri="{D42A27DB-BD31-4B8C-83A1-F6EECF244321}">
                <p14:modId xmlns:p14="http://schemas.microsoft.com/office/powerpoint/2010/main" val="297318631"/>
              </p:ext>
            </p:extLst>
          </p:nvPr>
        </p:nvGraphicFramePr>
        <p:xfrm>
          <a:off x="521208" y="75192"/>
          <a:ext cx="11430000" cy="6621490"/>
        </p:xfrm>
        <a:graphic>
          <a:graphicData uri="http://schemas.openxmlformats.org/drawingml/2006/table">
            <a:tbl>
              <a:tblPr firstRow="1" bandRow="1">
                <a:tableStyleId>{DE7AD339-51BE-4A38-A1C7-CCF28897F289}</a:tableStyleId>
              </a:tblPr>
              <a:tblGrid>
                <a:gridCol w="763132">
                  <a:extLst>
                    <a:ext uri="{9D8B030D-6E8A-4147-A177-3AD203B41FA5}">
                      <a16:colId xmlns:a16="http://schemas.microsoft.com/office/drawing/2014/main" val="2891994882"/>
                    </a:ext>
                  </a:extLst>
                </a:gridCol>
                <a:gridCol w="2979852">
                  <a:extLst>
                    <a:ext uri="{9D8B030D-6E8A-4147-A177-3AD203B41FA5}">
                      <a16:colId xmlns:a16="http://schemas.microsoft.com/office/drawing/2014/main" val="2457901194"/>
                    </a:ext>
                  </a:extLst>
                </a:gridCol>
                <a:gridCol w="2833102">
                  <a:extLst>
                    <a:ext uri="{9D8B030D-6E8A-4147-A177-3AD203B41FA5}">
                      <a16:colId xmlns:a16="http://schemas.microsoft.com/office/drawing/2014/main" val="4180391912"/>
                    </a:ext>
                  </a:extLst>
                </a:gridCol>
                <a:gridCol w="2622246">
                  <a:extLst>
                    <a:ext uri="{9D8B030D-6E8A-4147-A177-3AD203B41FA5}">
                      <a16:colId xmlns:a16="http://schemas.microsoft.com/office/drawing/2014/main" val="4205929342"/>
                    </a:ext>
                  </a:extLst>
                </a:gridCol>
                <a:gridCol w="2231668">
                  <a:extLst>
                    <a:ext uri="{9D8B030D-6E8A-4147-A177-3AD203B41FA5}">
                      <a16:colId xmlns:a16="http://schemas.microsoft.com/office/drawing/2014/main" val="2834078831"/>
                    </a:ext>
                  </a:extLst>
                </a:gridCol>
              </a:tblGrid>
              <a:tr h="804189">
                <a:tc>
                  <a:txBody>
                    <a:bodyPr/>
                    <a:lstStyle/>
                    <a:p>
                      <a:pPr algn="just"/>
                      <a:r>
                        <a:rPr lang="en-US" dirty="0">
                          <a:latin typeface="+mj-lt"/>
                          <a:ea typeface="Verdana" panose="020B0604030504040204" pitchFamily="34" charset="0"/>
                        </a:rPr>
                        <a:t>  </a:t>
                      </a:r>
                    </a:p>
                    <a:p>
                      <a:pPr algn="just"/>
                      <a:endParaRPr lang="en-US" dirty="0">
                        <a:latin typeface="+mj-lt"/>
                        <a:ea typeface="Verdana" panose="020B0604030504040204" pitchFamily="34" charset="0"/>
                      </a:endParaRPr>
                    </a:p>
                    <a:p>
                      <a:pPr algn="just"/>
                      <a:r>
                        <a:rPr lang="en-US" dirty="0">
                          <a:latin typeface="+mj-lt"/>
                          <a:ea typeface="Verdana" panose="020B0604030504040204" pitchFamily="34" charset="0"/>
                        </a:rPr>
                        <a:t>Sl.no</a:t>
                      </a:r>
                    </a:p>
                  </a:txBody>
                  <a:tcPr/>
                </a:tc>
                <a:tc>
                  <a:txBody>
                    <a:bodyPr/>
                    <a:lstStyle/>
                    <a:p>
                      <a:pPr algn="just">
                        <a:buNone/>
                      </a:pPr>
                      <a:r>
                        <a:rPr lang="en-US" b="1" dirty="0">
                          <a:latin typeface="+mj-lt"/>
                          <a:ea typeface="Verdana" panose="020B0604030504040204" pitchFamily="34" charset="0"/>
                        </a:rPr>
                        <a:t>                   </a:t>
                      </a:r>
                      <a:r>
                        <a:rPr lang="en-US" sz="2400" b="1" dirty="0">
                          <a:latin typeface="+mj-lt"/>
                          <a:ea typeface="Verdana" panose="020B0604030504040204" pitchFamily="34" charset="0"/>
                        </a:rPr>
                        <a:t>Title</a:t>
                      </a:r>
                      <a:endParaRPr lang="en-US" sz="2400" dirty="0">
                        <a:latin typeface="+mj-lt"/>
                        <a:ea typeface="Verdana" panose="020B0604030504040204" pitchFamily="34" charset="0"/>
                      </a:endParaRPr>
                    </a:p>
                  </a:txBody>
                  <a:tcPr anchor="ctr"/>
                </a:tc>
                <a:tc>
                  <a:txBody>
                    <a:bodyPr/>
                    <a:lstStyle/>
                    <a:p>
                      <a:pPr algn="just">
                        <a:buNone/>
                      </a:pPr>
                      <a:r>
                        <a:rPr lang="en-US" b="1" dirty="0">
                          <a:latin typeface="+mj-lt"/>
                          <a:ea typeface="Verdana" panose="020B0604030504040204" pitchFamily="34" charset="0"/>
                        </a:rPr>
                        <a:t>       </a:t>
                      </a:r>
                      <a:r>
                        <a:rPr lang="en-US" sz="2400" b="1" dirty="0">
                          <a:latin typeface="+mj-lt"/>
                          <a:ea typeface="Verdana" panose="020B0604030504040204" pitchFamily="34" charset="0"/>
                        </a:rPr>
                        <a:t>Methodology</a:t>
                      </a:r>
                      <a:endParaRPr lang="en-US" sz="2400" dirty="0">
                        <a:latin typeface="+mj-lt"/>
                        <a:ea typeface="Verdana" panose="020B0604030504040204" pitchFamily="34" charset="0"/>
                      </a:endParaRPr>
                    </a:p>
                  </a:txBody>
                  <a:tcPr anchor="ctr"/>
                </a:tc>
                <a:tc>
                  <a:txBody>
                    <a:bodyPr/>
                    <a:lstStyle/>
                    <a:p>
                      <a:pPr algn="just">
                        <a:buNone/>
                      </a:pPr>
                      <a:r>
                        <a:rPr lang="en-US" b="1" dirty="0">
                          <a:latin typeface="+mj-lt"/>
                          <a:ea typeface="Verdana" panose="020B0604030504040204" pitchFamily="34" charset="0"/>
                        </a:rPr>
                        <a:t>          </a:t>
                      </a:r>
                      <a:r>
                        <a:rPr lang="en-US" sz="2400" b="1" dirty="0">
                          <a:latin typeface="+mj-lt"/>
                          <a:ea typeface="Verdana" panose="020B0604030504040204" pitchFamily="34" charset="0"/>
                        </a:rPr>
                        <a:t>Significance</a:t>
                      </a:r>
                      <a:endParaRPr lang="en-US" sz="2400" dirty="0">
                        <a:latin typeface="+mj-lt"/>
                        <a:ea typeface="Verdana" panose="020B0604030504040204" pitchFamily="34" charset="0"/>
                      </a:endParaRPr>
                    </a:p>
                  </a:txBody>
                  <a:tcPr anchor="ctr"/>
                </a:tc>
                <a:tc>
                  <a:txBody>
                    <a:bodyPr/>
                    <a:lstStyle/>
                    <a:p>
                      <a:pPr algn="just">
                        <a:buNone/>
                      </a:pPr>
                      <a:r>
                        <a:rPr lang="en-US" b="1" dirty="0">
                          <a:latin typeface="+mj-lt"/>
                          <a:ea typeface="Verdana" panose="020B0604030504040204" pitchFamily="34" charset="0"/>
                        </a:rPr>
                        <a:t>     </a:t>
                      </a:r>
                      <a:r>
                        <a:rPr lang="en-US" sz="2400" b="1" dirty="0">
                          <a:latin typeface="+mj-lt"/>
                          <a:ea typeface="Verdana" panose="020B0604030504040204" pitchFamily="34" charset="0"/>
                        </a:rPr>
                        <a:t>Research            Gaps</a:t>
                      </a:r>
                      <a:endParaRPr lang="en-US" sz="2400" dirty="0">
                        <a:latin typeface="+mj-lt"/>
                        <a:ea typeface="Verdana" panose="020B0604030504040204" pitchFamily="34" charset="0"/>
                      </a:endParaRPr>
                    </a:p>
                  </a:txBody>
                  <a:tcPr anchor="ctr"/>
                </a:tc>
                <a:extLst>
                  <a:ext uri="{0D108BD9-81ED-4DB2-BD59-A6C34878D82A}">
                    <a16:rowId xmlns:a16="http://schemas.microsoft.com/office/drawing/2014/main" val="1100783687"/>
                  </a:ext>
                </a:extLst>
              </a:tr>
              <a:tr h="2554482">
                <a:tc>
                  <a:txBody>
                    <a:bodyPr/>
                    <a:lstStyle/>
                    <a:p>
                      <a:pPr algn="just"/>
                      <a:r>
                        <a:rPr lang="en-US" dirty="0">
                          <a:latin typeface="+mj-lt"/>
                          <a:ea typeface="Verdana" panose="020B0604030504040204" pitchFamily="34" charset="0"/>
                        </a:rPr>
                        <a:t>   </a:t>
                      </a:r>
                    </a:p>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r>
                        <a:rPr lang="en-US" dirty="0">
                          <a:latin typeface="+mj-lt"/>
                          <a:ea typeface="Verdana" panose="020B0604030504040204" pitchFamily="34" charset="0"/>
                        </a:rPr>
                        <a:t>  01</a:t>
                      </a:r>
                    </a:p>
                  </a:txBody>
                  <a:tcPr/>
                </a:tc>
                <a:tc>
                  <a:txBody>
                    <a:bodyPr/>
                    <a:lstStyle/>
                    <a:p>
                      <a:pPr algn="just">
                        <a:buNone/>
                      </a:pPr>
                      <a:r>
                        <a:rPr lang="en-US" dirty="0">
                          <a:latin typeface="+mj-lt"/>
                          <a:ea typeface="Verdana" panose="020B0604030504040204" pitchFamily="34" charset="0"/>
                        </a:rPr>
                        <a:t>"Design &amp; Implementation of 5-Stage 32-bit RISC-V Pipeline Processor on FPGA"</a:t>
                      </a:r>
                    </a:p>
                  </a:txBody>
                  <a:tcPr anchor="ctr"/>
                </a:tc>
                <a:tc>
                  <a:txBody>
                    <a:bodyPr/>
                    <a:lstStyle/>
                    <a:p>
                      <a:pPr algn="just">
                        <a:buNone/>
                      </a:pPr>
                      <a:r>
                        <a:rPr lang="en-US" dirty="0">
                          <a:latin typeface="+mj-lt"/>
                          <a:ea typeface="Verdana" panose="020B0604030504040204" pitchFamily="34" charset="0"/>
                        </a:rPr>
                        <a:t>A 5-stage pipelined RISC-V processor is designed with instruction fetch, decode, execute, memory access, and write back stages. A hazard detection unit is used to prevent pipeline hazards like data dependencies and stalls. A static branch predictor addresses branch instructions to enhance performance. The design is in Verilog, simulated in </a:t>
                      </a:r>
                      <a:r>
                        <a:rPr lang="en-US" dirty="0" err="1">
                          <a:latin typeface="+mj-lt"/>
                          <a:ea typeface="Verdana" panose="020B0604030504040204" pitchFamily="34" charset="0"/>
                        </a:rPr>
                        <a:t>Vivado</a:t>
                      </a:r>
                      <a:r>
                        <a:rPr lang="en-US" dirty="0">
                          <a:latin typeface="+mj-lt"/>
                          <a:ea typeface="Verdana" panose="020B0604030504040204" pitchFamily="34" charset="0"/>
                        </a:rPr>
                        <a:t>, and implemented on a </a:t>
                      </a:r>
                      <a:r>
                        <a:rPr lang="en-US" dirty="0" err="1">
                          <a:latin typeface="+mj-lt"/>
                          <a:ea typeface="Verdana" panose="020B0604030504040204" pitchFamily="34" charset="0"/>
                        </a:rPr>
                        <a:t>ZedBoard</a:t>
                      </a:r>
                      <a:r>
                        <a:rPr lang="en-US" dirty="0">
                          <a:latin typeface="+mj-lt"/>
                          <a:ea typeface="Verdana" panose="020B0604030504040204" pitchFamily="34" charset="0"/>
                        </a:rPr>
                        <a:t> Zynq FPGA</a:t>
                      </a:r>
                    </a:p>
                  </a:txBody>
                  <a:tcPr anchor="ctr"/>
                </a:tc>
                <a:tc>
                  <a:txBody>
                    <a:bodyPr/>
                    <a:lstStyle/>
                    <a:p>
                      <a:pPr algn="just">
                        <a:buNone/>
                      </a:pPr>
                      <a:r>
                        <a:rPr lang="en-US" dirty="0">
                          <a:latin typeface="+mj-lt"/>
                          <a:ea typeface="Verdana" panose="020B0604030504040204" pitchFamily="34" charset="0"/>
                        </a:rPr>
                        <a:t>The design uses a free and open-source RISC-V ISA. Pipelining and branch prediction enhance the processor's efficiency and speed by reducing clock cycles per instruction (CPI). The project is a guide for beginners on processor architecture and Verilog coding</a:t>
                      </a:r>
                    </a:p>
                  </a:txBody>
                  <a:tcPr anchor="ctr"/>
                </a:tc>
                <a:tc>
                  <a:txBody>
                    <a:bodyPr/>
                    <a:lstStyle/>
                    <a:p>
                      <a:pPr algn="just">
                        <a:buNone/>
                      </a:pPr>
                      <a:r>
                        <a:rPr lang="en-US" dirty="0">
                          <a:latin typeface="+mj-lt"/>
                          <a:ea typeface="Verdana" panose="020B0604030504040204" pitchFamily="34" charset="0"/>
                        </a:rPr>
                        <a:t>Future work should</a:t>
                      </a:r>
                    </a:p>
                    <a:p>
                      <a:pPr algn="just">
                        <a:buNone/>
                      </a:pPr>
                      <a:r>
                        <a:rPr lang="en-US" dirty="0">
                          <a:latin typeface="+mj-lt"/>
                          <a:ea typeface="Verdana" panose="020B0604030504040204" pitchFamily="34" charset="0"/>
                        </a:rPr>
                        <a:t>Improve branch prediction accuracy. The authors suggest advancing the RISC-V ecosystem by exploring multi-core pipeline designs and enhancing memory access.</a:t>
                      </a:r>
                    </a:p>
                  </a:txBody>
                  <a:tcPr anchor="ctr"/>
                </a:tc>
                <a:extLst>
                  <a:ext uri="{0D108BD9-81ED-4DB2-BD59-A6C34878D82A}">
                    <a16:rowId xmlns:a16="http://schemas.microsoft.com/office/drawing/2014/main" val="1016860297"/>
                  </a:ext>
                </a:extLst>
              </a:tr>
              <a:tr h="2720050">
                <a:tc>
                  <a:txBody>
                    <a:bodyPr/>
                    <a:lstStyle/>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endParaRPr lang="en-US" dirty="0">
                        <a:latin typeface="+mj-lt"/>
                        <a:ea typeface="Verdana" panose="020B0604030504040204" pitchFamily="34" charset="0"/>
                      </a:endParaRPr>
                    </a:p>
                    <a:p>
                      <a:pPr algn="just"/>
                      <a:r>
                        <a:rPr lang="en-US" dirty="0">
                          <a:latin typeface="+mj-lt"/>
                          <a:ea typeface="Verdana" panose="020B0604030504040204" pitchFamily="34" charset="0"/>
                        </a:rPr>
                        <a:t>   02</a:t>
                      </a:r>
                    </a:p>
                  </a:txBody>
                  <a:tcPr/>
                </a:tc>
                <a:tc>
                  <a:txBody>
                    <a:bodyPr/>
                    <a:lstStyle/>
                    <a:p>
                      <a:pPr algn="just">
                        <a:buNone/>
                      </a:pPr>
                      <a:r>
                        <a:rPr lang="en-US">
                          <a:latin typeface="+mj-lt"/>
                          <a:ea typeface="Verdana" panose="020B0604030504040204" pitchFamily="34" charset="0"/>
                        </a:rPr>
                        <a:t>"DESIGN AND SIMULATE RISC-V PROCESOR USING VERILOG"</a:t>
                      </a:r>
                    </a:p>
                  </a:txBody>
                  <a:tcPr anchor="ctr"/>
                </a:tc>
                <a:tc>
                  <a:txBody>
                    <a:bodyPr/>
                    <a:lstStyle/>
                    <a:p>
                      <a:pPr algn="just">
                        <a:buNone/>
                      </a:pPr>
                      <a:r>
                        <a:rPr lang="en-US" dirty="0">
                          <a:latin typeface="+mj-lt"/>
                          <a:ea typeface="Verdana" panose="020B0604030504040204" pitchFamily="34" charset="0"/>
                        </a:rPr>
                        <a:t>A 32-bit RISC-V processor is designed and simulated using Verilog, implementing a 5-stage pipeline. Key modules like ALU, memory (</a:t>
                      </a:r>
                      <a:r>
                        <a:rPr lang="en-US" dirty="0" err="1">
                          <a:latin typeface="+mj-lt"/>
                          <a:ea typeface="Verdana" panose="020B0604030504040204" pitchFamily="34" charset="0"/>
                        </a:rPr>
                        <a:t>imem</a:t>
                      </a:r>
                      <a:r>
                        <a:rPr lang="en-US" dirty="0">
                          <a:latin typeface="+mj-lt"/>
                          <a:ea typeface="Verdana" panose="020B0604030504040204" pitchFamily="34" charset="0"/>
                        </a:rPr>
                        <a:t>, </a:t>
                      </a:r>
                      <a:r>
                        <a:rPr lang="en-US" dirty="0" err="1">
                          <a:latin typeface="+mj-lt"/>
                          <a:ea typeface="Verdana" panose="020B0604030504040204" pitchFamily="34" charset="0"/>
                        </a:rPr>
                        <a:t>dmem</a:t>
                      </a:r>
                      <a:r>
                        <a:rPr lang="en-US" dirty="0">
                          <a:latin typeface="+mj-lt"/>
                          <a:ea typeface="Verdana" panose="020B0604030504040204" pitchFamily="34" charset="0"/>
                        </a:rPr>
                        <a:t>), and a register file are included. A hazard unit is implemented to mitigate hazards. The design's functionality is verified using </a:t>
                      </a:r>
                      <a:r>
                        <a:rPr lang="en-US" dirty="0" err="1">
                          <a:latin typeface="+mj-lt"/>
                          <a:ea typeface="Verdana" panose="020B0604030504040204" pitchFamily="34" charset="0"/>
                        </a:rPr>
                        <a:t>ModelSim</a:t>
                      </a:r>
                      <a:endParaRPr lang="en-US" dirty="0">
                        <a:latin typeface="+mj-lt"/>
                        <a:ea typeface="Verdana" panose="020B0604030504040204" pitchFamily="34" charset="0"/>
                      </a:endParaRPr>
                    </a:p>
                  </a:txBody>
                  <a:tcPr anchor="ctr"/>
                </a:tc>
                <a:tc>
                  <a:txBody>
                    <a:bodyPr/>
                    <a:lstStyle/>
                    <a:p>
                      <a:pPr algn="just"/>
                      <a:endParaRPr lang="en-US" dirty="0">
                        <a:latin typeface="+mj-lt"/>
                        <a:ea typeface="Verdana" panose="020B0604030504040204" pitchFamily="34" charset="0"/>
                      </a:endParaRPr>
                    </a:p>
                    <a:p>
                      <a:pPr algn="just"/>
                      <a:r>
                        <a:rPr lang="en-US" dirty="0">
                          <a:latin typeface="+mj-lt"/>
                          <a:ea typeface="Verdana" panose="020B0604030504040204" pitchFamily="34" charset="0"/>
                        </a:rPr>
                        <a:t>The free and open RISC-V ISA provides a great alternative for designers, reducing barriers in the semiconductor industry. The 5-stage pipeline design is used to increase the processor's efficiency by executing multiple instructions simultaneously.</a:t>
                      </a:r>
                    </a:p>
                  </a:txBody>
                  <a:tcPr/>
                </a:tc>
                <a:tc>
                  <a:txBody>
                    <a:bodyPr/>
                    <a:lstStyle/>
                    <a:p>
                      <a:pPr algn="just"/>
                      <a:r>
                        <a:rPr lang="en-US" dirty="0">
                          <a:latin typeface="+mj-lt"/>
                          <a:ea typeface="Verdana" panose="020B0604030504040204" pitchFamily="34" charset="0"/>
                        </a:rPr>
                        <a:t>Future work could focus on improving branch prediction accuracy. The design can be improved by implementing different extensions to the base integer instruction set. Exploring different cache architectures and memory hierarchies is suggested to reduce memory access time</a:t>
                      </a:r>
                    </a:p>
                  </a:txBody>
                  <a:tcPr/>
                </a:tc>
                <a:extLst>
                  <a:ext uri="{0D108BD9-81ED-4DB2-BD59-A6C34878D82A}">
                    <a16:rowId xmlns:a16="http://schemas.microsoft.com/office/drawing/2014/main" val="3576551055"/>
                  </a:ext>
                </a:extLst>
              </a:tr>
            </a:tbl>
          </a:graphicData>
        </a:graphic>
      </p:graphicFrame>
    </p:spTree>
    <p:extLst>
      <p:ext uri="{BB962C8B-B14F-4D97-AF65-F5344CB8AC3E}">
        <p14:creationId xmlns:p14="http://schemas.microsoft.com/office/powerpoint/2010/main" val="2271541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E228C0B-C4FD-F7E2-85FF-6B6FF00B165B}"/>
              </a:ext>
            </a:extLst>
          </p:cNvPr>
          <p:cNvGraphicFramePr>
            <a:graphicFrameLocks noGrp="1"/>
          </p:cNvGraphicFramePr>
          <p:nvPr>
            <p:extLst>
              <p:ext uri="{D42A27DB-BD31-4B8C-83A1-F6EECF244321}">
                <p14:modId xmlns:p14="http://schemas.microsoft.com/office/powerpoint/2010/main" val="3926430886"/>
              </p:ext>
            </p:extLst>
          </p:nvPr>
        </p:nvGraphicFramePr>
        <p:xfrm>
          <a:off x="515257" y="416125"/>
          <a:ext cx="11161486" cy="5704114"/>
        </p:xfrm>
        <a:graphic>
          <a:graphicData uri="http://schemas.openxmlformats.org/drawingml/2006/table">
            <a:tbl>
              <a:tblPr firstRow="1" bandRow="1">
                <a:tableStyleId>{DE7AD339-51BE-4A38-A1C7-CCF28897F289}</a:tableStyleId>
              </a:tblPr>
              <a:tblGrid>
                <a:gridCol w="739989">
                  <a:extLst>
                    <a:ext uri="{9D8B030D-6E8A-4147-A177-3AD203B41FA5}">
                      <a16:colId xmlns:a16="http://schemas.microsoft.com/office/drawing/2014/main" val="650870277"/>
                    </a:ext>
                  </a:extLst>
                </a:gridCol>
                <a:gridCol w="2512875">
                  <a:extLst>
                    <a:ext uri="{9D8B030D-6E8A-4147-A177-3AD203B41FA5}">
                      <a16:colId xmlns:a16="http://schemas.microsoft.com/office/drawing/2014/main" val="722502580"/>
                    </a:ext>
                  </a:extLst>
                </a:gridCol>
                <a:gridCol w="3006201">
                  <a:extLst>
                    <a:ext uri="{9D8B030D-6E8A-4147-A177-3AD203B41FA5}">
                      <a16:colId xmlns:a16="http://schemas.microsoft.com/office/drawing/2014/main" val="2255247189"/>
                    </a:ext>
                  </a:extLst>
                </a:gridCol>
                <a:gridCol w="2424542">
                  <a:extLst>
                    <a:ext uri="{9D8B030D-6E8A-4147-A177-3AD203B41FA5}">
                      <a16:colId xmlns:a16="http://schemas.microsoft.com/office/drawing/2014/main" val="3886960144"/>
                    </a:ext>
                  </a:extLst>
                </a:gridCol>
                <a:gridCol w="2477879">
                  <a:extLst>
                    <a:ext uri="{9D8B030D-6E8A-4147-A177-3AD203B41FA5}">
                      <a16:colId xmlns:a16="http://schemas.microsoft.com/office/drawing/2014/main" val="605323630"/>
                    </a:ext>
                  </a:extLst>
                </a:gridCol>
              </a:tblGrid>
              <a:tr h="2852057">
                <a:tc>
                  <a:txBody>
                    <a:bodyPr/>
                    <a:lstStyle/>
                    <a:p>
                      <a:endParaRPr lang="en-US" dirty="0"/>
                    </a:p>
                    <a:p>
                      <a:endParaRPr lang="en-US" dirty="0"/>
                    </a:p>
                    <a:p>
                      <a:endParaRPr lang="en-US" dirty="0"/>
                    </a:p>
                    <a:p>
                      <a:endParaRPr lang="en-US" dirty="0"/>
                    </a:p>
                    <a:p>
                      <a:endParaRPr lang="en-US" dirty="0"/>
                    </a:p>
                    <a:p>
                      <a:r>
                        <a:rPr lang="en-US" dirty="0"/>
                        <a:t>03</a:t>
                      </a:r>
                    </a:p>
                  </a:txBody>
                  <a:tcPr/>
                </a:tc>
                <a:tc>
                  <a:txBody>
                    <a:bodyPr/>
                    <a:lstStyle/>
                    <a:p>
                      <a:endParaRPr lang="en-US" dirty="0"/>
                    </a:p>
                    <a:p>
                      <a:endParaRPr lang="en-US" dirty="0"/>
                    </a:p>
                    <a:p>
                      <a:endParaRPr lang="en-US" dirty="0"/>
                    </a:p>
                    <a:p>
                      <a:endParaRPr lang="en-US" dirty="0"/>
                    </a:p>
                    <a:p>
                      <a:r>
                        <a:rPr lang="en-US" dirty="0"/>
                        <a:t>"SLEEP APNEA DETECTION BASED ON FPGA USING EEG SIGNALS"</a:t>
                      </a:r>
                    </a:p>
                  </a:txBody>
                  <a:tcPr/>
                </a:tc>
                <a:tc>
                  <a:txBody>
                    <a:bodyPr/>
                    <a:lstStyle/>
                    <a:p>
                      <a:pPr algn="just"/>
                      <a:r>
                        <a:rPr lang="en-US" dirty="0"/>
                        <a:t>EEG signals from the UCDDB database are preprocessed and band-decomposed into five frequency sub-bands. Features like energy, mobility, and kurtosis are extracted from these sub-bands. A Linear Support Vector Machine (LSVM) classifier is used to distinguish between apnea and non-apnea episodes. The model's parameters are then implemented on an Artix-7 FPGA</a:t>
                      </a:r>
                    </a:p>
                  </a:txBody>
                  <a:tcPr/>
                </a:tc>
                <a:tc>
                  <a:txBody>
                    <a:bodyPr/>
                    <a:lstStyle/>
                    <a:p>
                      <a:pPr algn="just"/>
                      <a:r>
                        <a:rPr lang="en-US" dirty="0"/>
                        <a:t>The system achieves an impressive performance with a highest accuracy of 94.81%. It is energy-efficient, with a minimal dynamic power usage of 19mW. The hardware can be integrated into a wearable device for automated sleep apnea detection</a:t>
                      </a:r>
                    </a:p>
                  </a:txBody>
                  <a:tcPr/>
                </a:tc>
                <a:tc>
                  <a:txBody>
                    <a:bodyPr/>
                    <a:lstStyle/>
                    <a:p>
                      <a:pPr algn="just"/>
                      <a:r>
                        <a:rPr lang="en-US" dirty="0"/>
                        <a:t>The authors suggest connecting a wireless headset band for EEG recordings with an FPGA to improve comfort and efficiency</a:t>
                      </a:r>
                    </a:p>
                  </a:txBody>
                  <a:tcPr/>
                </a:tc>
                <a:extLst>
                  <a:ext uri="{0D108BD9-81ED-4DB2-BD59-A6C34878D82A}">
                    <a16:rowId xmlns:a16="http://schemas.microsoft.com/office/drawing/2014/main" val="1922529832"/>
                  </a:ext>
                </a:extLst>
              </a:tr>
              <a:tr h="2852057">
                <a:tc>
                  <a:txBody>
                    <a:bodyPr/>
                    <a:lstStyle/>
                    <a:p>
                      <a:endParaRPr lang="en-US" dirty="0"/>
                    </a:p>
                    <a:p>
                      <a:endParaRPr lang="en-US" dirty="0"/>
                    </a:p>
                    <a:p>
                      <a:endParaRPr lang="en-US" dirty="0"/>
                    </a:p>
                    <a:p>
                      <a:endParaRPr lang="en-US" dirty="0"/>
                    </a:p>
                    <a:p>
                      <a:endParaRPr lang="en-US" dirty="0"/>
                    </a:p>
                    <a:p>
                      <a:r>
                        <a:rPr lang="en-US" dirty="0"/>
                        <a:t>04</a:t>
                      </a:r>
                    </a:p>
                  </a:txBody>
                  <a:tcPr/>
                </a:tc>
                <a:tc>
                  <a:txBody>
                    <a:bodyPr/>
                    <a:lstStyle/>
                    <a:p>
                      <a:endParaRPr lang="en-US" dirty="0"/>
                    </a:p>
                    <a:p>
                      <a:endParaRPr lang="en-US" dirty="0"/>
                    </a:p>
                    <a:p>
                      <a:endParaRPr lang="en-US" dirty="0"/>
                    </a:p>
                    <a:p>
                      <a:r>
                        <a:rPr lang="en-US" dirty="0"/>
                        <a:t>"EEG Signal Processing for the Identification of Sleeping Disorder Using Hybrid Deep Learning with Ensemble Machine Learning Classifier"</a:t>
                      </a:r>
                    </a:p>
                  </a:txBody>
                  <a:tcPr/>
                </a:tc>
                <a:tc>
                  <a:txBody>
                    <a:bodyPr/>
                    <a:lstStyle/>
                    <a:p>
                      <a:pPr algn="just"/>
                      <a:r>
                        <a:rPr lang="en-US" dirty="0"/>
                        <a:t>EEG signals from the Sleep-EDF database are collected and preprocessed to remove noise and artifacts. A hybrid deep learning framework (CNN) and an ensemble machine learning classifier are used for detection. The approach combines CNN with classifiers like Random Forest, KNN, and </a:t>
                      </a:r>
                      <a:r>
                        <a:rPr lang="en-US" dirty="0" err="1"/>
                        <a:t>XGBoost</a:t>
                      </a:r>
                      <a:endParaRPr lang="en-US" dirty="0"/>
                    </a:p>
                  </a:txBody>
                  <a:tcPr/>
                </a:tc>
                <a:tc>
                  <a:txBody>
                    <a:bodyPr/>
                    <a:lstStyle/>
                    <a:p>
                      <a:pPr algn="just"/>
                      <a:r>
                        <a:rPr lang="en-US" dirty="0"/>
                        <a:t>The hybrid model achieves high accuracy (96.78%) and sensitivity (89.06%), outperforming conventional methods. The use of CNNs effectively extracts high-level features from EEG signals, while the ensemble learning improves generalization and reduces overfitting.</a:t>
                      </a:r>
                    </a:p>
                  </a:txBody>
                  <a:tcPr/>
                </a:tc>
                <a:tc>
                  <a:txBody>
                    <a:bodyPr/>
                    <a:lstStyle/>
                    <a:p>
                      <a:pPr algn="just"/>
                      <a:r>
                        <a:rPr lang="en-US" dirty="0"/>
                        <a:t>The model should be tested on larger and more varied datasets, including real-world clinical data. Further research is needed to understand the specific EEG characteristics </a:t>
                      </a:r>
                      <a:r>
                        <a:rPr lang="en-US" dirty="0" err="1"/>
                        <a:t>thatcontribute</a:t>
                      </a:r>
                      <a:r>
                        <a:rPr lang="en-US" dirty="0"/>
                        <a:t> </a:t>
                      </a:r>
                      <a:r>
                        <a:rPr lang="en-US" dirty="0" err="1"/>
                        <a:t>tothehybridmodel's</a:t>
                      </a:r>
                      <a:r>
                        <a:rPr lang="en-US" dirty="0"/>
                        <a:t> classification.</a:t>
                      </a:r>
                    </a:p>
                  </a:txBody>
                  <a:tcPr/>
                </a:tc>
                <a:extLst>
                  <a:ext uri="{0D108BD9-81ED-4DB2-BD59-A6C34878D82A}">
                    <a16:rowId xmlns:a16="http://schemas.microsoft.com/office/drawing/2014/main" val="312872147"/>
                  </a:ext>
                </a:extLst>
              </a:tr>
            </a:tbl>
          </a:graphicData>
        </a:graphic>
      </p:graphicFrame>
    </p:spTree>
    <p:extLst>
      <p:ext uri="{BB962C8B-B14F-4D97-AF65-F5344CB8AC3E}">
        <p14:creationId xmlns:p14="http://schemas.microsoft.com/office/powerpoint/2010/main" val="3274055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565409" y="171553"/>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1656909" y="708086"/>
            <a:ext cx="4557079" cy="5588794"/>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Structural Diagram</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12401"/>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Behaviour Diagram</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6" name="AutoShape 2">
            <a:extLst>
              <a:ext uri="{FF2B5EF4-FFF2-40B4-BE49-F238E27FC236}">
                <a16:creationId xmlns:a16="http://schemas.microsoft.com/office/drawing/2014/main" id="{B202B010-756C-4E9A-145D-2D376D784C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a:extLst>
              <a:ext uri="{FF2B5EF4-FFF2-40B4-BE49-F238E27FC236}">
                <a16:creationId xmlns:a16="http://schemas.microsoft.com/office/drawing/2014/main" id="{9063857C-6807-78E5-D737-73B81812417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1B4A0140-8EC5-59E5-D166-C1841C119097}"/>
              </a:ext>
            </a:extLst>
          </p:cNvPr>
          <p:cNvPicPr>
            <a:picLocks noChangeAspect="1"/>
          </p:cNvPicPr>
          <p:nvPr/>
        </p:nvPicPr>
        <p:blipFill>
          <a:blip r:embed="rId2"/>
          <a:stretch>
            <a:fillRect/>
          </a:stretch>
        </p:blipFill>
        <p:spPr>
          <a:xfrm>
            <a:off x="1197332" y="1054976"/>
            <a:ext cx="3467095" cy="5094938"/>
          </a:xfrm>
          <a:prstGeom prst="rect">
            <a:avLst/>
          </a:prstGeom>
        </p:spPr>
      </p:pic>
      <p:pic>
        <p:nvPicPr>
          <p:cNvPr id="13" name="Picture 12">
            <a:extLst>
              <a:ext uri="{FF2B5EF4-FFF2-40B4-BE49-F238E27FC236}">
                <a16:creationId xmlns:a16="http://schemas.microsoft.com/office/drawing/2014/main" id="{433115AD-8833-B959-68AC-B20B66B8355C}"/>
              </a:ext>
            </a:extLst>
          </p:cNvPr>
          <p:cNvPicPr>
            <a:picLocks noChangeAspect="1"/>
          </p:cNvPicPr>
          <p:nvPr/>
        </p:nvPicPr>
        <p:blipFill>
          <a:blip r:embed="rId3"/>
          <a:stretch>
            <a:fillRect/>
          </a:stretch>
        </p:blipFill>
        <p:spPr>
          <a:xfrm>
            <a:off x="5550027" y="1387882"/>
            <a:ext cx="6267450" cy="4429125"/>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452284" y="788096"/>
            <a:ext cx="5893652" cy="6069904"/>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Use Cases:</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lvl="0" indent="-285750" algn="just">
              <a:buFont typeface="Arial" panose="020B0604020202020204" pitchFamily="34" charset="0"/>
              <a:buChar char="•"/>
            </a:pPr>
            <a:r>
              <a:rPr lang="en-IN" b="1" dirty="0">
                <a:latin typeface="Verdana" panose="020B0604030504040204" pitchFamily="34" charset="0"/>
                <a:ea typeface="Verdana" panose="020B0604030504040204" pitchFamily="34" charset="0"/>
              </a:rPr>
              <a:t>Use Case 1 — EEG Signal Acquisition</a:t>
            </a:r>
          </a:p>
          <a:p>
            <a:pPr lvl="0" algn="just"/>
            <a:r>
              <a:rPr lang="en-IN" dirty="0">
                <a:latin typeface="Verdana" panose="020B0604030504040204" pitchFamily="34" charset="0"/>
                <a:ea typeface="Verdana" panose="020B0604030504040204" pitchFamily="34" charset="0"/>
              </a:rPr>
              <a:t>Goal: Capture brain signals and send them to FPGA.</a:t>
            </a:r>
          </a:p>
          <a:p>
            <a:pPr lvl="0" algn="just"/>
            <a:r>
              <a:rPr lang="en-IN" dirty="0">
                <a:latin typeface="Verdana" panose="020B0604030504040204" pitchFamily="34" charset="0"/>
                <a:ea typeface="Verdana" panose="020B0604030504040204" pitchFamily="34" charset="0"/>
              </a:rPr>
              <a:t>Electrodes pick up EEG signals → amplifier filters noise → ADC converts to digital → FPGA receives</a:t>
            </a:r>
            <a:r>
              <a:rPr lang="en-IN" b="1" dirty="0">
                <a:latin typeface="Verdana" panose="020B0604030504040204" pitchFamily="34" charset="0"/>
                <a:ea typeface="Verdana" panose="020B0604030504040204" pitchFamily="34" charset="0"/>
              </a:rPr>
              <a:t>.</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endParaRPr lang="en-US" sz="1600"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Use Case 2 — FPGA Pre-Processing</a:t>
            </a:r>
          </a:p>
          <a:p>
            <a:pPr lvl="0"/>
            <a:r>
              <a:rPr lang="en-US" dirty="0">
                <a:latin typeface="Verdana" panose="020B0604030504040204" pitchFamily="34" charset="0"/>
                <a:ea typeface="Verdana" panose="020B0604030504040204" pitchFamily="34" charset="0"/>
              </a:rPr>
              <a:t>Goal: Clean and store the EEG signal</a:t>
            </a:r>
          </a:p>
          <a:p>
            <a:pPr lvl="0"/>
            <a:r>
              <a:rPr lang="en-US" dirty="0">
                <a:latin typeface="Verdana" panose="020B0604030504040204" pitchFamily="34" charset="0"/>
                <a:ea typeface="Verdana" panose="020B0604030504040204" pitchFamily="34" charset="0"/>
              </a:rPr>
              <a:t>FPGA receives samples → applies smoothing/threshold → stores them in FIFO or memory</a:t>
            </a:r>
            <a:r>
              <a:rPr lang="en-US" dirty="0"/>
              <a:t>.</a:t>
            </a:r>
          </a:p>
          <a:p>
            <a:pPr lvl="0"/>
            <a:endParaRPr lang="en-US" dirty="0"/>
          </a:p>
          <a:p>
            <a:pPr marL="285750" lvl="0" indent="-285750">
              <a:buFont typeface="Arial" panose="020B0604020202020204" pitchFamily="34" charset="0"/>
              <a:buChar char="•"/>
            </a:pPr>
            <a:r>
              <a:rPr lang="en-US" sz="1600" b="1" dirty="0"/>
              <a:t> </a:t>
            </a:r>
            <a:r>
              <a:rPr lang="en-US" b="1" dirty="0">
                <a:latin typeface="Verdana" panose="020B0604030504040204" pitchFamily="34" charset="0"/>
                <a:ea typeface="Verdana" panose="020B0604030504040204" pitchFamily="34" charset="0"/>
              </a:rPr>
              <a:t>Use Case 3 — Sleep Disorder Detection</a:t>
            </a:r>
          </a:p>
          <a:p>
            <a:pPr lvl="0"/>
            <a:r>
              <a:rPr lang="en-US" dirty="0">
                <a:latin typeface="Verdana" panose="020B0604030504040204" pitchFamily="34" charset="0"/>
                <a:ea typeface="Verdana" panose="020B0604030504040204" pitchFamily="34" charset="0"/>
              </a:rPr>
              <a:t>Goal: Detect abnormal patterns using RISC-V</a:t>
            </a:r>
          </a:p>
          <a:p>
            <a:pPr lvl="0"/>
            <a:r>
              <a:rPr lang="en-US" dirty="0">
                <a:latin typeface="Verdana" panose="020B0604030504040204" pitchFamily="34" charset="0"/>
                <a:ea typeface="Verdana" panose="020B0604030504040204" pitchFamily="34" charset="0"/>
              </a:rPr>
              <a:t>FPGA sends processed samples → RISC-V identifies apnea, seizure, or abnormal activity → triggers alert</a:t>
            </a:r>
            <a:r>
              <a:rPr lang="en-US" sz="1600" b="1" dirty="0"/>
              <a:t>. </a:t>
            </a:r>
          </a:p>
          <a:p>
            <a:pPr lvl="0"/>
            <a:endParaRPr lang="en-US" sz="1600" dirty="0"/>
          </a:p>
          <a:p>
            <a:pPr marL="285750" lvl="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Use Case 4 — Alert Generation</a:t>
            </a:r>
          </a:p>
          <a:p>
            <a:pPr lvl="0"/>
            <a:r>
              <a:rPr lang="en-US" dirty="0">
                <a:latin typeface="Verdana" panose="020B0604030504040204" pitchFamily="34" charset="0"/>
                <a:ea typeface="Verdana" panose="020B0604030504040204" pitchFamily="34" charset="0"/>
              </a:rPr>
              <a:t>Goal: Notify user or doctor.</a:t>
            </a:r>
          </a:p>
          <a:p>
            <a:pPr lvl="0"/>
            <a:r>
              <a:rPr lang="en-US" dirty="0">
                <a:latin typeface="Verdana" panose="020B0604030504040204" pitchFamily="34" charset="0"/>
                <a:ea typeface="Verdana" panose="020B0604030504040204" pitchFamily="34" charset="0"/>
              </a:rPr>
              <a:t>If abnormal EEG detected → buzzer/LED lights → notification sent through UART/USB</a:t>
            </a:r>
            <a:r>
              <a:rPr lang="en-US" sz="1600" b="1" dirty="0"/>
              <a:t>.</a:t>
            </a:r>
            <a:endParaRPr lang="en-IN" sz="1600"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Test Cases :</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lvl="0" indent="-285750">
              <a:buFont typeface="Wingdings" panose="05000000000000000000" pitchFamily="2" charset="2"/>
              <a:buChar char="q"/>
            </a:pPr>
            <a:r>
              <a:rPr lang="en-US" sz="1600" b="1" dirty="0"/>
              <a:t>Test Case 1 </a:t>
            </a:r>
            <a:r>
              <a:rPr lang="en-US" sz="1600" dirty="0"/>
              <a:t>– ADC Input Verification</a:t>
            </a:r>
          </a:p>
          <a:p>
            <a:pPr lvl="0"/>
            <a:r>
              <a:rPr lang="en-US" dirty="0">
                <a:latin typeface="Verdana" panose="020B0604030504040204" pitchFamily="34" charset="0"/>
                <a:ea typeface="Verdana" panose="020B0604030504040204" pitchFamily="34" charset="0"/>
              </a:rPr>
              <a:t>Input: 0.5–1 V signal from function generator</a:t>
            </a:r>
          </a:p>
          <a:p>
            <a:pPr lvl="0"/>
            <a:r>
              <a:rPr lang="en-US" dirty="0">
                <a:latin typeface="Verdana" panose="020B0604030504040204" pitchFamily="34" charset="0"/>
                <a:ea typeface="Verdana" panose="020B0604030504040204" pitchFamily="34" charset="0"/>
              </a:rPr>
              <a:t>Output:</a:t>
            </a:r>
          </a:p>
          <a:p>
            <a:pPr lvl="0"/>
            <a:r>
              <a:rPr lang="en-US" dirty="0">
                <a:latin typeface="Verdana" panose="020B0604030504040204" pitchFamily="34" charset="0"/>
                <a:ea typeface="Verdana" panose="020B0604030504040204" pitchFamily="34" charset="0"/>
              </a:rPr>
              <a:t>FPGA shows stable waveform, correct digital sample values..</a:t>
            </a:r>
          </a:p>
          <a:p>
            <a:pPr marL="285750" lvl="0" indent="-285750">
              <a:buFont typeface="Wingdings" panose="05000000000000000000" pitchFamily="2" charset="2"/>
              <a:buChar char="q"/>
            </a:pPr>
            <a:endParaRPr lang="en-US" sz="1600" dirty="0">
              <a:latin typeface="Verdana" panose="020B0604030504040204" pitchFamily="34" charset="0"/>
              <a:ea typeface="Verdana" panose="020B0604030504040204" pitchFamily="34" charset="0"/>
            </a:endParaRPr>
          </a:p>
          <a:p>
            <a:pPr marL="285750" lvl="0" indent="-285750">
              <a:buFont typeface="Wingdings" panose="05000000000000000000" pitchFamily="2" charset="2"/>
              <a:buChar char="q"/>
            </a:pPr>
            <a:r>
              <a:rPr lang="en-US" b="1" dirty="0">
                <a:latin typeface="Verdana" panose="020B0604030504040204" pitchFamily="34" charset="0"/>
                <a:ea typeface="Verdana" panose="020B0604030504040204" pitchFamily="34" charset="0"/>
              </a:rPr>
              <a:t>Test Case 2 </a:t>
            </a:r>
            <a:r>
              <a:rPr lang="en-US" dirty="0">
                <a:latin typeface="Verdana" panose="020B0604030504040204" pitchFamily="34" charset="0"/>
                <a:ea typeface="Verdana" panose="020B0604030504040204" pitchFamily="34" charset="0"/>
              </a:rPr>
              <a:t>– Noise Filter Verification</a:t>
            </a:r>
          </a:p>
          <a:p>
            <a:pPr lvl="0"/>
            <a:r>
              <a:rPr lang="en-US" dirty="0">
                <a:latin typeface="Verdana" panose="020B0604030504040204" pitchFamily="34" charset="0"/>
                <a:ea typeface="Verdana" panose="020B0604030504040204" pitchFamily="34" charset="0"/>
              </a:rPr>
              <a:t>Input: Noisy sine wave</a:t>
            </a:r>
          </a:p>
          <a:p>
            <a:pPr lvl="0"/>
            <a:r>
              <a:rPr lang="en-US" dirty="0">
                <a:latin typeface="Verdana" panose="020B0604030504040204" pitchFamily="34" charset="0"/>
                <a:ea typeface="Verdana" panose="020B0604030504040204" pitchFamily="34" charset="0"/>
              </a:rPr>
              <a:t>Expected Output:</a:t>
            </a:r>
          </a:p>
          <a:p>
            <a:pPr lvl="0"/>
            <a:r>
              <a:rPr lang="en-US" dirty="0">
                <a:latin typeface="Verdana" panose="020B0604030504040204" pitchFamily="34" charset="0"/>
                <a:ea typeface="Verdana" panose="020B0604030504040204" pitchFamily="34" charset="0"/>
              </a:rPr>
              <a:t>Filtered output is smoother, noise reduced</a:t>
            </a:r>
            <a:r>
              <a:rPr lang="en-US" sz="1600" dirty="0">
                <a:latin typeface="Verdana" panose="020B0604030504040204" pitchFamily="34" charset="0"/>
                <a:ea typeface="Verdana" panose="020B0604030504040204" pitchFamily="34" charset="0"/>
              </a:rPr>
              <a:t>.</a:t>
            </a:r>
          </a:p>
          <a:p>
            <a:pPr lvl="0"/>
            <a:endParaRPr lang="en-US" sz="1600" dirty="0">
              <a:latin typeface="Verdana" panose="020B0604030504040204" pitchFamily="34" charset="0"/>
              <a:ea typeface="Verdana" panose="020B0604030504040204" pitchFamily="34" charset="0"/>
            </a:endParaRPr>
          </a:p>
          <a:p>
            <a:pPr marL="285750" lvl="0" indent="-285750">
              <a:buFont typeface="Wingdings" panose="05000000000000000000" pitchFamily="2" charset="2"/>
              <a:buChar char="q"/>
            </a:pPr>
            <a:r>
              <a:rPr lang="en-US" b="1" dirty="0">
                <a:latin typeface="Verdana" panose="020B0604030504040204" pitchFamily="34" charset="0"/>
                <a:ea typeface="Verdana" panose="020B0604030504040204" pitchFamily="34" charset="0"/>
              </a:rPr>
              <a:t>Test Case 3 </a:t>
            </a:r>
            <a:r>
              <a:rPr lang="en-US" dirty="0">
                <a:latin typeface="Verdana" panose="020B0604030504040204" pitchFamily="34" charset="0"/>
                <a:ea typeface="Verdana" panose="020B0604030504040204" pitchFamily="34" charset="0"/>
              </a:rPr>
              <a:t>– RISC-V Processing</a:t>
            </a:r>
          </a:p>
          <a:p>
            <a:pPr lvl="0"/>
            <a:r>
              <a:rPr lang="en-US" dirty="0">
                <a:latin typeface="Verdana" panose="020B0604030504040204" pitchFamily="34" charset="0"/>
                <a:ea typeface="Verdana" panose="020B0604030504040204" pitchFamily="34" charset="0"/>
              </a:rPr>
              <a:t>Input: Stream of digital samples</a:t>
            </a:r>
          </a:p>
          <a:p>
            <a:pPr lvl="0"/>
            <a:r>
              <a:rPr lang="en-US" dirty="0">
                <a:latin typeface="Verdana" panose="020B0604030504040204" pitchFamily="34" charset="0"/>
                <a:ea typeface="Verdana" panose="020B0604030504040204" pitchFamily="34" charset="0"/>
              </a:rPr>
              <a:t>Expected Output:</a:t>
            </a:r>
          </a:p>
          <a:p>
            <a:pPr lvl="0"/>
            <a:r>
              <a:rPr lang="en-US" dirty="0">
                <a:latin typeface="Verdana" panose="020B0604030504040204" pitchFamily="34" charset="0"/>
                <a:ea typeface="Verdana" panose="020B0604030504040204" pitchFamily="34" charset="0"/>
              </a:rPr>
              <a:t>RISC-V predicts "normal" or "abnormal" based on logic.</a:t>
            </a:r>
          </a:p>
        </p:txBody>
      </p:sp>
    </p:spTree>
    <p:extLst>
      <p:ext uri="{BB962C8B-B14F-4D97-AF65-F5344CB8AC3E}">
        <p14:creationId xmlns:p14="http://schemas.microsoft.com/office/powerpoint/2010/main" val="1995428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1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594543" y="889964"/>
            <a:ext cx="11326761" cy="5735761"/>
          </a:xfrm>
          <a:prstGeom prst="rect">
            <a:avLst/>
          </a:prstGeom>
          <a:noFill/>
          <a:ln>
            <a:noFill/>
          </a:ln>
        </p:spPr>
        <p:txBody>
          <a:bodyPr spcFirstLastPara="1" wrap="square" lIns="91425" tIns="45700" rIns="91425" bIns="45700" anchor="t" anchorCtr="0">
            <a:noAutofit/>
          </a:bodyPr>
          <a:lstStyle/>
          <a:p>
            <a:pPr lvl="0"/>
            <a:r>
              <a:rPr lang="en-US" b="1" dirty="0"/>
              <a:t>Implementation – Iteration 1 </a:t>
            </a:r>
          </a:p>
          <a:p>
            <a:pPr lvl="0"/>
            <a:endParaRPr lang="en-US" dirty="0"/>
          </a:p>
          <a:p>
            <a:pPr lvl="0"/>
            <a:r>
              <a:rPr lang="en-US" dirty="0"/>
              <a:t>● </a:t>
            </a:r>
            <a:r>
              <a:rPr lang="en-US" dirty="0">
                <a:latin typeface="Verdana" panose="020B0604030504040204" pitchFamily="34" charset="0"/>
                <a:ea typeface="Verdana" panose="020B0604030504040204" pitchFamily="34" charset="0"/>
              </a:rPr>
              <a:t>Configured FPGA infrastructure: LEDs, switches, push buttons, 7-segment display</a:t>
            </a:r>
          </a:p>
          <a:p>
            <a:pPr lvl="0"/>
            <a:r>
              <a:rPr lang="en-US" dirty="0">
                <a:latin typeface="Verdana" panose="020B0604030504040204" pitchFamily="34" charset="0"/>
                <a:ea typeface="Verdana" panose="020B0604030504040204" pitchFamily="34" charset="0"/>
              </a:rPr>
              <a:t>. </a:t>
            </a:r>
          </a:p>
          <a:p>
            <a:pPr lvl="0"/>
            <a:r>
              <a:rPr lang="en-US" dirty="0">
                <a:latin typeface="Verdana" panose="020B0604030504040204" pitchFamily="34" charset="0"/>
                <a:ea typeface="Verdana" panose="020B0604030504040204" pitchFamily="34" charset="0"/>
              </a:rPr>
              <a:t>● Implemented clock divider for timing control. </a:t>
            </a:r>
          </a:p>
          <a:p>
            <a:pPr lvl="0"/>
            <a:endParaRPr lang="en-US" dirty="0">
              <a:latin typeface="Verdana" panose="020B0604030504040204" pitchFamily="34" charset="0"/>
              <a:ea typeface="Verdana" panose="020B0604030504040204" pitchFamily="34" charset="0"/>
            </a:endParaRPr>
          </a:p>
          <a:p>
            <a:pPr lvl="0"/>
            <a:r>
              <a:rPr lang="en-US" dirty="0">
                <a:latin typeface="Verdana" panose="020B0604030504040204" pitchFamily="34" charset="0"/>
                <a:ea typeface="Verdana" panose="020B0604030504040204" pitchFamily="34" charset="0"/>
              </a:rPr>
              <a:t>● Mapped digital input signals (switches/buttons) → FPGA outputs (LEDs/7-segment).</a:t>
            </a:r>
          </a:p>
          <a:p>
            <a:pPr lvl="0"/>
            <a:r>
              <a:rPr lang="en-US" dirty="0">
                <a:latin typeface="Verdana" panose="020B0604030504040204" pitchFamily="34" charset="0"/>
                <a:ea typeface="Verdana" panose="020B0604030504040204" pitchFamily="34" charset="0"/>
              </a:rPr>
              <a:t> </a:t>
            </a:r>
          </a:p>
          <a:p>
            <a:pPr lvl="0"/>
            <a:r>
              <a:rPr lang="en-US" dirty="0">
                <a:latin typeface="Verdana" panose="020B0604030504040204" pitchFamily="34" charset="0"/>
                <a:ea typeface="Verdana" panose="020B0604030504040204" pitchFamily="34" charset="0"/>
              </a:rPr>
              <a:t>● Verified functionality through simulation and on-board testing. </a:t>
            </a:r>
          </a:p>
          <a:p>
            <a:pPr lvl="0"/>
            <a:endParaRPr lang="en-US"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Results – Iteration 1 </a:t>
            </a:r>
          </a:p>
          <a:p>
            <a:pPr lvl="0"/>
            <a:endParaRPr lang="en-US" dirty="0">
              <a:latin typeface="Verdana" panose="020B0604030504040204" pitchFamily="34" charset="0"/>
              <a:ea typeface="Verdana" panose="020B0604030504040204" pitchFamily="34" charset="0"/>
            </a:endParaRPr>
          </a:p>
          <a:p>
            <a:pPr lvl="0"/>
            <a:r>
              <a:rPr lang="en-US" dirty="0">
                <a:latin typeface="Verdana" panose="020B0604030504040204" pitchFamily="34" charset="0"/>
                <a:ea typeface="Verdana" panose="020B0604030504040204" pitchFamily="34" charset="0"/>
              </a:rPr>
              <a:t>● FPGA synthesized and programmed successfully with no errors. </a:t>
            </a:r>
          </a:p>
          <a:p>
            <a:pPr lvl="0"/>
            <a:endParaRPr lang="en-US" dirty="0">
              <a:latin typeface="Verdana" panose="020B0604030504040204" pitchFamily="34" charset="0"/>
              <a:ea typeface="Verdana" panose="020B0604030504040204" pitchFamily="34" charset="0"/>
            </a:endParaRPr>
          </a:p>
          <a:p>
            <a:pPr lvl="0"/>
            <a:r>
              <a:rPr lang="en-US" dirty="0">
                <a:latin typeface="Verdana" panose="020B0604030504040204" pitchFamily="34" charset="0"/>
                <a:ea typeface="Verdana" panose="020B0604030504040204" pitchFamily="34" charset="0"/>
              </a:rPr>
              <a:t>● Switches and buttons correctly controlled LEDs and 7-segment display. </a:t>
            </a:r>
          </a:p>
          <a:p>
            <a:pPr lvl="0"/>
            <a:endParaRPr lang="en-US" dirty="0">
              <a:latin typeface="Verdana" panose="020B0604030504040204" pitchFamily="34" charset="0"/>
              <a:ea typeface="Verdana" panose="020B0604030504040204" pitchFamily="34" charset="0"/>
            </a:endParaRPr>
          </a:p>
          <a:p>
            <a:pPr lvl="0"/>
            <a:r>
              <a:rPr lang="en-US" dirty="0">
                <a:latin typeface="Verdana" panose="020B0604030504040204" pitchFamily="34" charset="0"/>
                <a:ea typeface="Verdana" panose="020B0604030504040204" pitchFamily="34" charset="0"/>
              </a:rPr>
              <a:t>● Digital signal flow validated from inputs → FPGA logic → outputs. </a:t>
            </a:r>
          </a:p>
          <a:p>
            <a:pPr lvl="0"/>
            <a:endParaRPr lang="en-US" dirty="0">
              <a:latin typeface="Verdana" panose="020B0604030504040204" pitchFamily="34" charset="0"/>
              <a:ea typeface="Verdana" panose="020B0604030504040204" pitchFamily="34" charset="0"/>
            </a:endParaRPr>
          </a:p>
          <a:p>
            <a:pPr lvl="0"/>
            <a:r>
              <a:rPr lang="en-US" dirty="0">
                <a:latin typeface="Verdana" panose="020B0604030504040204" pitchFamily="34" charset="0"/>
                <a:ea typeface="Verdana" panose="020B0604030504040204" pitchFamily="34" charset="0"/>
              </a:rPr>
              <a:t>● Outcome: FPGA infrastructure is ready for sensor interface integration in Iteration 2</a:t>
            </a:r>
            <a:r>
              <a:rPr lang="en-IN" b="1" dirty="0">
                <a:latin typeface="Verdana" panose="020B0604030504040204" pitchFamily="34" charset="0"/>
                <a:ea typeface="Verdana" panose="020B0604030504040204" pitchFamily="34" charset="0"/>
              </a:rPr>
              <a:t>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29190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7F3C2-30F6-161D-0163-6EFD11D04F7C}"/>
              </a:ext>
            </a:extLst>
          </p:cNvPr>
          <p:cNvSpPr txBox="1"/>
          <p:nvPr/>
        </p:nvSpPr>
        <p:spPr>
          <a:xfrm>
            <a:off x="2681478" y="230160"/>
            <a:ext cx="6094476" cy="400110"/>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dirty="0">
                <a:solidFill>
                  <a:srgbClr val="000000"/>
                </a:solidFill>
                <a:latin typeface="Montserrat"/>
                <a:ea typeface="Montserrat"/>
                <a:cs typeface="Montserrat"/>
                <a:sym typeface="Montserrat"/>
              </a:rPr>
              <a:t>Implementation and Results – Iteration 2 </a:t>
            </a:r>
            <a:endParaRPr lang="en-US" sz="20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472E8B27-80B9-1816-0CF8-314BFE966B70}"/>
              </a:ext>
            </a:extLst>
          </p:cNvPr>
          <p:cNvSpPr txBox="1"/>
          <p:nvPr/>
        </p:nvSpPr>
        <p:spPr>
          <a:xfrm>
            <a:off x="324612" y="620460"/>
            <a:ext cx="10808208" cy="5047536"/>
          </a:xfrm>
          <a:prstGeom prst="rect">
            <a:avLst/>
          </a:prstGeom>
          <a:noFill/>
        </p:spPr>
        <p:txBody>
          <a:bodyPr wrap="square">
            <a:spAutoFit/>
          </a:bodyPr>
          <a:lstStyle/>
          <a:p>
            <a:pPr algn="just"/>
            <a:r>
              <a:rPr lang="en-IN" b="1" dirty="0"/>
              <a:t>Implementation – Iteration 2 (Analog Signal → FPGA → XADC Testing)</a:t>
            </a:r>
          </a:p>
          <a:p>
            <a:pPr algn="just"/>
            <a:endParaRPr lang="en-IN" dirty="0"/>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Established </a:t>
            </a:r>
            <a:r>
              <a:rPr lang="en-IN" dirty="0" err="1">
                <a:latin typeface="Verdana" panose="020B0604030504040204" pitchFamily="34" charset="0"/>
                <a:ea typeface="Verdana" panose="020B0604030504040204" pitchFamily="34" charset="0"/>
              </a:rPr>
              <a:t>analog</a:t>
            </a:r>
            <a:r>
              <a:rPr lang="en-IN" dirty="0">
                <a:latin typeface="Verdana" panose="020B0604030504040204" pitchFamily="34" charset="0"/>
                <a:ea typeface="Verdana" panose="020B0604030504040204" pitchFamily="34" charset="0"/>
              </a:rPr>
              <a:t> input interface on Nexys-4 using AD1P (VAUXP1) and AD1N (VAUXN1) pins.</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Connected function generator + oscilloscope + FPGA with proper grounding to validate the </a:t>
            </a:r>
            <a:r>
              <a:rPr lang="en-IN" dirty="0" err="1">
                <a:latin typeface="Verdana" panose="020B0604030504040204" pitchFamily="34" charset="0"/>
                <a:ea typeface="Verdana" panose="020B0604030504040204" pitchFamily="34" charset="0"/>
              </a:rPr>
              <a:t>analog</a:t>
            </a:r>
            <a:r>
              <a:rPr lang="en-IN" dirty="0">
                <a:latin typeface="Verdana" panose="020B0604030504040204" pitchFamily="34" charset="0"/>
                <a:ea typeface="Verdana" panose="020B0604030504040204" pitchFamily="34" charset="0"/>
              </a:rPr>
              <a:t> input waveform.</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Instantiated XADC core in </a:t>
            </a:r>
            <a:r>
              <a:rPr lang="en-IN" dirty="0" err="1">
                <a:latin typeface="Verdana" panose="020B0604030504040204" pitchFamily="34" charset="0"/>
                <a:ea typeface="Verdana" panose="020B0604030504040204" pitchFamily="34" charset="0"/>
              </a:rPr>
              <a:t>Vivado</a:t>
            </a:r>
            <a:r>
              <a:rPr lang="en-IN" dirty="0">
                <a:latin typeface="Verdana" panose="020B0604030504040204" pitchFamily="34" charset="0"/>
                <a:ea typeface="Verdana" panose="020B0604030504040204" pitchFamily="34" charset="0"/>
              </a:rPr>
              <a:t> and configured to sample Channel VAUXP1/VauxN1.</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Developed Verilog module to acquire XADC 12-bit output and monitor it on LEDs / 7-segment display.</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Verified correct sampling frequency, stable ADC output, and synchronization with system clock.</a:t>
            </a:r>
          </a:p>
          <a:p>
            <a:pPr algn="just"/>
            <a:endParaRPr lang="en-IN" dirty="0">
              <a:latin typeface="Verdana" panose="020B0604030504040204" pitchFamily="34" charset="0"/>
              <a:ea typeface="Verdana" panose="020B0604030504040204" pitchFamily="34" charset="0"/>
            </a:endParaRPr>
          </a:p>
          <a:p>
            <a:pPr algn="just"/>
            <a:r>
              <a:rPr lang="en-IN" b="1" dirty="0"/>
              <a:t>Results – Iteration 2</a:t>
            </a:r>
          </a:p>
          <a:p>
            <a:pPr algn="just"/>
            <a:endParaRPr lang="en-IN" b="1" dirty="0"/>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Proper </a:t>
            </a:r>
            <a:r>
              <a:rPr lang="en-IN" dirty="0" err="1">
                <a:latin typeface="Verdana" panose="020B0604030504040204" pitchFamily="34" charset="0"/>
                <a:ea typeface="Verdana" panose="020B0604030504040204" pitchFamily="34" charset="0"/>
              </a:rPr>
              <a:t>analog</a:t>
            </a:r>
            <a:r>
              <a:rPr lang="en-IN" dirty="0">
                <a:latin typeface="Verdana" panose="020B0604030504040204" pitchFamily="34" charset="0"/>
                <a:ea typeface="Verdana" panose="020B0604030504040204" pitchFamily="34" charset="0"/>
              </a:rPr>
              <a:t> waveform (0 – 1V) observed on oscilloscope, confirming safe signal range for XADC.</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XADC successfully converted the input waveform into stable 12-bit digital values.</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LEDs / 7-segment displayed real-time changes in waveform amplitude.</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Function generator, oscilloscope, and FPGA were all synchronized and working correctly.</a:t>
            </a:r>
          </a:p>
          <a:p>
            <a:pPr marL="285750" indent="-285750" algn="jus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IN" dirty="0">
                <a:latin typeface="Verdana" panose="020B0604030504040204" pitchFamily="34" charset="0"/>
                <a:ea typeface="Verdana" panose="020B0604030504040204" pitchFamily="34" charset="0"/>
              </a:rPr>
              <a:t>Outcome: Complete </a:t>
            </a:r>
            <a:r>
              <a:rPr lang="en-IN" dirty="0" err="1">
                <a:latin typeface="Verdana" panose="020B0604030504040204" pitchFamily="34" charset="0"/>
                <a:ea typeface="Verdana" panose="020B0604030504040204" pitchFamily="34" charset="0"/>
              </a:rPr>
              <a:t>analog</a:t>
            </a:r>
            <a:r>
              <a:rPr lang="en-IN" dirty="0">
                <a:latin typeface="Verdana" panose="020B0604030504040204" pitchFamily="34" charset="0"/>
                <a:ea typeface="Verdana" panose="020B0604030504040204" pitchFamily="34" charset="0"/>
              </a:rPr>
              <a:t> signal acquisition pipeline is validated, ready for EEG sensor integration in final stage</a:t>
            </a:r>
            <a:r>
              <a:rPr lang="en-IN" dirty="0"/>
              <a:t>.</a:t>
            </a:r>
          </a:p>
        </p:txBody>
      </p:sp>
    </p:spTree>
    <p:extLst>
      <p:ext uri="{BB962C8B-B14F-4D97-AF65-F5344CB8AC3E}">
        <p14:creationId xmlns:p14="http://schemas.microsoft.com/office/powerpoint/2010/main" val="1370267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9FBE6F58-A246-5C27-42DA-2BA9E0465633}"/>
              </a:ext>
            </a:extLst>
          </p:cNvPr>
          <p:cNvPicPr>
            <a:picLocks noGrp="1" noChangeAspect="1"/>
          </p:cNvPicPr>
          <p:nvPr>
            <p:ph type="pic" idx="2"/>
          </p:nvPr>
        </p:nvPicPr>
        <p:blipFill>
          <a:blip r:embed="rId2"/>
          <a:srcRect t="793" b="793"/>
          <a:stretch/>
        </p:blipFill>
        <p:spPr>
          <a:xfrm>
            <a:off x="1356361" y="718248"/>
            <a:ext cx="9305544" cy="4937243"/>
          </a:xfrm>
          <a:prstGeom prst="rect">
            <a:avLst/>
          </a:prstGeom>
          <a:noFill/>
          <a:ln>
            <a:noFill/>
          </a:ln>
        </p:spPr>
      </p:pic>
      <p:sp>
        <p:nvSpPr>
          <p:cNvPr id="3" name="Slide Number Placeholder 2">
            <a:extLst>
              <a:ext uri="{FF2B5EF4-FFF2-40B4-BE49-F238E27FC236}">
                <a16:creationId xmlns:a16="http://schemas.microsoft.com/office/drawing/2014/main" id="{7F2EF5BC-CFD1-2D5A-68BA-D5B1D515FC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6" name="TextBox 5">
            <a:extLst>
              <a:ext uri="{FF2B5EF4-FFF2-40B4-BE49-F238E27FC236}">
                <a16:creationId xmlns:a16="http://schemas.microsoft.com/office/drawing/2014/main" id="{9A8A02FA-2FC1-2322-F158-5A339E0C2339}"/>
              </a:ext>
            </a:extLst>
          </p:cNvPr>
          <p:cNvSpPr txBox="1"/>
          <p:nvPr/>
        </p:nvSpPr>
        <p:spPr>
          <a:xfrm>
            <a:off x="6406895" y="1179913"/>
            <a:ext cx="2734056" cy="400110"/>
          </a:xfrm>
          <a:prstGeom prst="rect">
            <a:avLst/>
          </a:prstGeom>
          <a:noFill/>
        </p:spPr>
        <p:txBody>
          <a:bodyPr wrap="square" rtlCol="0">
            <a:spAutoFit/>
          </a:bodyPr>
          <a:lstStyle/>
          <a:p>
            <a:r>
              <a:rPr lang="en-US" sz="2000" dirty="0">
                <a:solidFill>
                  <a:schemeClr val="tx1">
                    <a:lumMod val="10000"/>
                    <a:lumOff val="90000"/>
                  </a:schemeClr>
                </a:solidFill>
              </a:rPr>
              <a:t>VERILOG CODES</a:t>
            </a:r>
            <a:endParaRPr lang="en-IN" sz="2000" dirty="0">
              <a:solidFill>
                <a:schemeClr val="tx1">
                  <a:lumMod val="10000"/>
                  <a:lumOff val="90000"/>
                </a:schemeClr>
              </a:solidFill>
            </a:endParaRPr>
          </a:p>
        </p:txBody>
      </p:sp>
      <p:sp>
        <p:nvSpPr>
          <p:cNvPr id="7" name="TextBox 6">
            <a:extLst>
              <a:ext uri="{FF2B5EF4-FFF2-40B4-BE49-F238E27FC236}">
                <a16:creationId xmlns:a16="http://schemas.microsoft.com/office/drawing/2014/main" id="{410E17A1-A3E3-08E2-E24D-BA8194FDFE38}"/>
              </a:ext>
            </a:extLst>
          </p:cNvPr>
          <p:cNvSpPr txBox="1"/>
          <p:nvPr/>
        </p:nvSpPr>
        <p:spPr>
          <a:xfrm>
            <a:off x="4654296" y="1279713"/>
            <a:ext cx="1188720" cy="400110"/>
          </a:xfrm>
          <a:prstGeom prst="rect">
            <a:avLst/>
          </a:prstGeom>
          <a:noFill/>
        </p:spPr>
        <p:txBody>
          <a:bodyPr wrap="square" rtlCol="0">
            <a:spAutoFit/>
          </a:bodyPr>
          <a:lstStyle/>
          <a:p>
            <a:r>
              <a:rPr lang="en-US" sz="2000" dirty="0">
                <a:solidFill>
                  <a:schemeClr val="bg2">
                    <a:lumMod val="10000"/>
                    <a:lumOff val="90000"/>
                  </a:schemeClr>
                </a:solidFill>
              </a:rPr>
              <a:t>CRO</a:t>
            </a:r>
            <a:endParaRPr lang="en-IN" sz="2000" dirty="0">
              <a:solidFill>
                <a:schemeClr val="bg2">
                  <a:lumMod val="10000"/>
                  <a:lumOff val="90000"/>
                </a:schemeClr>
              </a:solidFill>
            </a:endParaRPr>
          </a:p>
        </p:txBody>
      </p:sp>
      <p:sp>
        <p:nvSpPr>
          <p:cNvPr id="8" name="TextBox 7">
            <a:extLst>
              <a:ext uri="{FF2B5EF4-FFF2-40B4-BE49-F238E27FC236}">
                <a16:creationId xmlns:a16="http://schemas.microsoft.com/office/drawing/2014/main" id="{292AAC95-47B2-993F-7D66-71777EB91BA9}"/>
              </a:ext>
            </a:extLst>
          </p:cNvPr>
          <p:cNvSpPr txBox="1"/>
          <p:nvPr/>
        </p:nvSpPr>
        <p:spPr>
          <a:xfrm>
            <a:off x="2066544" y="1772155"/>
            <a:ext cx="1874520" cy="584775"/>
          </a:xfrm>
          <a:prstGeom prst="rect">
            <a:avLst/>
          </a:prstGeom>
          <a:noFill/>
        </p:spPr>
        <p:txBody>
          <a:bodyPr wrap="square" rtlCol="0">
            <a:spAutoFit/>
          </a:bodyPr>
          <a:lstStyle/>
          <a:p>
            <a:r>
              <a:rPr lang="en-US" sz="1600" dirty="0">
                <a:solidFill>
                  <a:schemeClr val="bg2">
                    <a:lumMod val="10000"/>
                    <a:lumOff val="90000"/>
                  </a:schemeClr>
                </a:solidFill>
              </a:rPr>
              <a:t>FUNCTIONAL GENERATOR</a:t>
            </a:r>
            <a:endParaRPr lang="en-IN" sz="1600" dirty="0">
              <a:solidFill>
                <a:schemeClr val="bg2">
                  <a:lumMod val="10000"/>
                  <a:lumOff val="90000"/>
                </a:schemeClr>
              </a:solidFill>
            </a:endParaRPr>
          </a:p>
        </p:txBody>
      </p:sp>
      <p:sp>
        <p:nvSpPr>
          <p:cNvPr id="9" name="TextBox 8">
            <a:extLst>
              <a:ext uri="{FF2B5EF4-FFF2-40B4-BE49-F238E27FC236}">
                <a16:creationId xmlns:a16="http://schemas.microsoft.com/office/drawing/2014/main" id="{ABB64167-DD51-F56A-E49E-3948BDECC594}"/>
              </a:ext>
            </a:extLst>
          </p:cNvPr>
          <p:cNvSpPr txBox="1"/>
          <p:nvPr/>
        </p:nvSpPr>
        <p:spPr>
          <a:xfrm>
            <a:off x="1929384" y="4039406"/>
            <a:ext cx="1709928" cy="461665"/>
          </a:xfrm>
          <a:prstGeom prst="rect">
            <a:avLst/>
          </a:prstGeom>
          <a:noFill/>
        </p:spPr>
        <p:txBody>
          <a:bodyPr wrap="square" rtlCol="0">
            <a:spAutoFit/>
          </a:bodyPr>
          <a:lstStyle/>
          <a:p>
            <a:r>
              <a:rPr lang="en-US" sz="2400" dirty="0">
                <a:solidFill>
                  <a:schemeClr val="bg2">
                    <a:lumMod val="10000"/>
                    <a:lumOff val="90000"/>
                  </a:schemeClr>
                </a:solidFill>
              </a:rPr>
              <a:t>FPGA</a:t>
            </a:r>
            <a:endParaRPr lang="en-IN" sz="2400" dirty="0">
              <a:solidFill>
                <a:schemeClr val="bg2">
                  <a:lumMod val="10000"/>
                  <a:lumOff val="90000"/>
                </a:schemeClr>
              </a:solidFill>
            </a:endParaRPr>
          </a:p>
        </p:txBody>
      </p:sp>
      <p:sp>
        <p:nvSpPr>
          <p:cNvPr id="13" name="TextBox 12">
            <a:extLst>
              <a:ext uri="{FF2B5EF4-FFF2-40B4-BE49-F238E27FC236}">
                <a16:creationId xmlns:a16="http://schemas.microsoft.com/office/drawing/2014/main" id="{4744AB08-17B7-9AE8-8F6D-4C4CE25A4DAA}"/>
              </a:ext>
            </a:extLst>
          </p:cNvPr>
          <p:cNvSpPr txBox="1"/>
          <p:nvPr/>
        </p:nvSpPr>
        <p:spPr>
          <a:xfrm>
            <a:off x="1097280" y="256583"/>
            <a:ext cx="9491472" cy="461665"/>
          </a:xfrm>
          <a:prstGeom prst="rect">
            <a:avLst/>
          </a:prstGeom>
          <a:noFill/>
        </p:spPr>
        <p:txBody>
          <a:bodyPr wrap="square" rtlCol="0">
            <a:spAutoFit/>
          </a:bodyPr>
          <a:lstStyle/>
          <a:p>
            <a:r>
              <a:rPr lang="en-US" sz="2400" b="1" dirty="0"/>
              <a:t>TESTING EQUIPMENTS:</a:t>
            </a:r>
            <a:endParaRPr lang="en-IN" sz="2400" b="1" dirty="0"/>
          </a:p>
        </p:txBody>
      </p:sp>
      <p:sp>
        <p:nvSpPr>
          <p:cNvPr id="14" name="TextBox 13">
            <a:extLst>
              <a:ext uri="{FF2B5EF4-FFF2-40B4-BE49-F238E27FC236}">
                <a16:creationId xmlns:a16="http://schemas.microsoft.com/office/drawing/2014/main" id="{15DD4057-978C-AE8A-E981-88E60BCFAECF}"/>
              </a:ext>
            </a:extLst>
          </p:cNvPr>
          <p:cNvSpPr txBox="1"/>
          <p:nvPr/>
        </p:nvSpPr>
        <p:spPr>
          <a:xfrm>
            <a:off x="1097280" y="5769864"/>
            <a:ext cx="9491472" cy="523220"/>
          </a:xfrm>
          <a:prstGeom prst="rect">
            <a:avLst/>
          </a:prstGeom>
          <a:noFill/>
        </p:spPr>
        <p:txBody>
          <a:bodyPr wrap="square" rtlCol="0">
            <a:spAutoFit/>
          </a:bodyPr>
          <a:lstStyle/>
          <a:p>
            <a:r>
              <a:rPr lang="en-US" dirty="0"/>
              <a:t>Fig.1 Testing different frequency analog signal using JXADC In FPGA using functional generator and CRO in Analog Circuits Lab room 316 </a:t>
            </a:r>
            <a:endParaRPr lang="en-IN" dirty="0"/>
          </a:p>
        </p:txBody>
      </p:sp>
    </p:spTree>
    <p:extLst>
      <p:ext uri="{BB962C8B-B14F-4D97-AF65-F5344CB8AC3E}">
        <p14:creationId xmlns:p14="http://schemas.microsoft.com/office/powerpoint/2010/main" val="1077295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60E7E6-15FA-58C4-2721-92C8C0AF3C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7" name="AutoShape 8">
            <a:extLst>
              <a:ext uri="{FF2B5EF4-FFF2-40B4-BE49-F238E27FC236}">
                <a16:creationId xmlns:a16="http://schemas.microsoft.com/office/drawing/2014/main" id="{6DEF34F2-146D-DA07-8619-5B3F823341E7}"/>
              </a:ext>
            </a:extLst>
          </p:cNvPr>
          <p:cNvSpPr>
            <a:spLocks noChangeAspect="1" noChangeArrowheads="1"/>
          </p:cNvSpPr>
          <p:nvPr/>
        </p:nvSpPr>
        <p:spPr bwMode="auto">
          <a:xfrm>
            <a:off x="5943600" y="902208"/>
            <a:ext cx="2679192" cy="2679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10">
            <a:extLst>
              <a:ext uri="{FF2B5EF4-FFF2-40B4-BE49-F238E27FC236}">
                <a16:creationId xmlns:a16="http://schemas.microsoft.com/office/drawing/2014/main" id="{D65D6A5E-E4A9-8B97-8A4D-CF45F094A6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D1E65D1C-CDE4-99B9-E7C6-ACCD1C7F0F0D}"/>
              </a:ext>
            </a:extLst>
          </p:cNvPr>
          <p:cNvPicPr>
            <a:picLocks noChangeAspect="1"/>
          </p:cNvPicPr>
          <p:nvPr/>
        </p:nvPicPr>
        <p:blipFill>
          <a:blip r:embed="rId2"/>
          <a:stretch>
            <a:fillRect/>
          </a:stretch>
        </p:blipFill>
        <p:spPr>
          <a:xfrm>
            <a:off x="396240" y="902208"/>
            <a:ext cx="5597793" cy="5147345"/>
          </a:xfrm>
          <a:prstGeom prst="rect">
            <a:avLst/>
          </a:prstGeom>
        </p:spPr>
      </p:pic>
      <p:cxnSp>
        <p:nvCxnSpPr>
          <p:cNvPr id="19" name="Connector: Elbow 18">
            <a:extLst>
              <a:ext uri="{FF2B5EF4-FFF2-40B4-BE49-F238E27FC236}">
                <a16:creationId xmlns:a16="http://schemas.microsoft.com/office/drawing/2014/main" id="{F7ACE8DD-BB67-881C-0103-17DF8712B0D4}"/>
              </a:ext>
            </a:extLst>
          </p:cNvPr>
          <p:cNvCxnSpPr/>
          <p:nvPr/>
        </p:nvCxnSpPr>
        <p:spPr>
          <a:xfrm flipV="1">
            <a:off x="5861304" y="1307592"/>
            <a:ext cx="3227832" cy="1188720"/>
          </a:xfrm>
          <a:prstGeom prst="bentConnector3">
            <a:avLst/>
          </a:prstGeom>
          <a:ln>
            <a:tailEnd type="triangle"/>
          </a:ln>
        </p:spPr>
        <p:style>
          <a:lnRef idx="2">
            <a:schemeClr val="accent6"/>
          </a:lnRef>
          <a:fillRef idx="0">
            <a:schemeClr val="accent6"/>
          </a:fillRef>
          <a:effectRef idx="1">
            <a:schemeClr val="accent6"/>
          </a:effectRef>
          <a:fontRef idx="minor">
            <a:schemeClr val="tx1"/>
          </a:fontRef>
        </p:style>
      </p:cxnSp>
      <p:pic>
        <p:nvPicPr>
          <p:cNvPr id="21" name="Picture 20">
            <a:extLst>
              <a:ext uri="{FF2B5EF4-FFF2-40B4-BE49-F238E27FC236}">
                <a16:creationId xmlns:a16="http://schemas.microsoft.com/office/drawing/2014/main" id="{E32A6679-00CB-68DA-BD6F-84D0B6EE28EA}"/>
              </a:ext>
            </a:extLst>
          </p:cNvPr>
          <p:cNvPicPr>
            <a:picLocks noChangeAspect="1"/>
          </p:cNvPicPr>
          <p:nvPr/>
        </p:nvPicPr>
        <p:blipFill>
          <a:blip r:embed="rId3"/>
          <a:srcRect l="5233" t="14449" r="40642" b="6628"/>
          <a:stretch>
            <a:fillRect/>
          </a:stretch>
        </p:blipFill>
        <p:spPr>
          <a:xfrm rot="16200000">
            <a:off x="9231221" y="154277"/>
            <a:ext cx="2449887" cy="2679192"/>
          </a:xfrm>
          <a:prstGeom prst="rect">
            <a:avLst/>
          </a:prstGeom>
        </p:spPr>
      </p:pic>
      <p:pic>
        <p:nvPicPr>
          <p:cNvPr id="23" name="Picture 22">
            <a:extLst>
              <a:ext uri="{FF2B5EF4-FFF2-40B4-BE49-F238E27FC236}">
                <a16:creationId xmlns:a16="http://schemas.microsoft.com/office/drawing/2014/main" id="{41B1FE90-EB2E-B4E0-8E34-DCAFF96D1FD6}"/>
              </a:ext>
            </a:extLst>
          </p:cNvPr>
          <p:cNvPicPr>
            <a:picLocks noChangeAspect="1"/>
          </p:cNvPicPr>
          <p:nvPr/>
        </p:nvPicPr>
        <p:blipFill>
          <a:blip r:embed="rId4"/>
          <a:srcRect l="24044" t="-1" r="29558" b="71516"/>
          <a:stretch>
            <a:fillRect/>
          </a:stretch>
        </p:blipFill>
        <p:spPr>
          <a:xfrm>
            <a:off x="7203954" y="3642432"/>
            <a:ext cx="4818873" cy="1967846"/>
          </a:xfrm>
          <a:prstGeom prst="rect">
            <a:avLst/>
          </a:prstGeom>
        </p:spPr>
      </p:pic>
      <p:sp>
        <p:nvSpPr>
          <p:cNvPr id="25" name="TextBox 24">
            <a:extLst>
              <a:ext uri="{FF2B5EF4-FFF2-40B4-BE49-F238E27FC236}">
                <a16:creationId xmlns:a16="http://schemas.microsoft.com/office/drawing/2014/main" id="{1F79816E-699B-C7B7-0400-D69A8434B50B}"/>
              </a:ext>
            </a:extLst>
          </p:cNvPr>
          <p:cNvSpPr txBox="1"/>
          <p:nvPr/>
        </p:nvSpPr>
        <p:spPr>
          <a:xfrm>
            <a:off x="396240" y="109728"/>
            <a:ext cx="8125968" cy="523220"/>
          </a:xfrm>
          <a:prstGeom prst="rect">
            <a:avLst/>
          </a:prstGeom>
          <a:noFill/>
        </p:spPr>
        <p:txBody>
          <a:bodyPr wrap="square" rtlCol="0">
            <a:spAutoFit/>
          </a:bodyPr>
          <a:lstStyle/>
          <a:p>
            <a:r>
              <a:rPr lang="en-US" sz="2800" b="1" dirty="0"/>
              <a:t>FPGA-NEXYS4 </a:t>
            </a:r>
            <a:endParaRPr lang="en-IN" sz="2800" b="1" dirty="0"/>
          </a:p>
        </p:txBody>
      </p:sp>
      <p:sp>
        <p:nvSpPr>
          <p:cNvPr id="26" name="TextBox 25">
            <a:extLst>
              <a:ext uri="{FF2B5EF4-FFF2-40B4-BE49-F238E27FC236}">
                <a16:creationId xmlns:a16="http://schemas.microsoft.com/office/drawing/2014/main" id="{F11D2BCD-DE6E-A677-526C-4F8B175987F3}"/>
              </a:ext>
            </a:extLst>
          </p:cNvPr>
          <p:cNvSpPr txBox="1"/>
          <p:nvPr/>
        </p:nvSpPr>
        <p:spPr>
          <a:xfrm>
            <a:off x="8897112" y="2907792"/>
            <a:ext cx="2999232" cy="307777"/>
          </a:xfrm>
          <a:prstGeom prst="rect">
            <a:avLst/>
          </a:prstGeom>
          <a:noFill/>
        </p:spPr>
        <p:txBody>
          <a:bodyPr wrap="square" rtlCol="0">
            <a:spAutoFit/>
          </a:bodyPr>
          <a:lstStyle/>
          <a:p>
            <a:r>
              <a:rPr lang="en-US" b="1" dirty="0"/>
              <a:t>JXADC CONFIGURATION</a:t>
            </a:r>
            <a:endParaRPr lang="en-IN" b="1" dirty="0"/>
          </a:p>
        </p:txBody>
      </p:sp>
    </p:spTree>
    <p:extLst>
      <p:ext uri="{BB962C8B-B14F-4D97-AF65-F5344CB8AC3E}">
        <p14:creationId xmlns:p14="http://schemas.microsoft.com/office/powerpoint/2010/main" val="68778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anim calcmode="lin" valueType="num">
                                      <p:cBhvr>
                                        <p:cTn id="15" dur="1000" fill="hold"/>
                                        <p:tgtEl>
                                          <p:spTgt spid="23"/>
                                        </p:tgtEl>
                                        <p:attrNameLst>
                                          <p:attrName>ppt_x</p:attrName>
                                        </p:attrNameLst>
                                      </p:cBhvr>
                                      <p:tavLst>
                                        <p:tav tm="0">
                                          <p:val>
                                            <p:strVal val="#ppt_x"/>
                                          </p:val>
                                        </p:tav>
                                        <p:tav tm="100000">
                                          <p:val>
                                            <p:strVal val="#ppt_x"/>
                                          </p:val>
                                        </p:tav>
                                      </p:tavLst>
                                    </p:anim>
                                    <p:anim calcmode="lin" valueType="num">
                                      <p:cBhvr>
                                        <p:cTn id="1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0B98A3-EFFF-A24C-7C85-A3AE5BADE4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4" name="TextBox 3">
            <a:extLst>
              <a:ext uri="{FF2B5EF4-FFF2-40B4-BE49-F238E27FC236}">
                <a16:creationId xmlns:a16="http://schemas.microsoft.com/office/drawing/2014/main" id="{DD804BEA-4188-3650-4553-6669F6C34119}"/>
              </a:ext>
            </a:extLst>
          </p:cNvPr>
          <p:cNvSpPr txBox="1"/>
          <p:nvPr/>
        </p:nvSpPr>
        <p:spPr>
          <a:xfrm>
            <a:off x="223520" y="193040"/>
            <a:ext cx="5567680" cy="400110"/>
          </a:xfrm>
          <a:prstGeom prst="rect">
            <a:avLst/>
          </a:prstGeom>
          <a:noFill/>
        </p:spPr>
        <p:txBody>
          <a:bodyPr wrap="square" rtlCol="0">
            <a:spAutoFit/>
          </a:bodyPr>
          <a:lstStyle/>
          <a:p>
            <a:r>
              <a:rPr lang="en-US" sz="2000" b="1" dirty="0"/>
              <a:t>CODES</a:t>
            </a:r>
            <a:endParaRPr lang="en-IN" sz="2000" b="1" dirty="0"/>
          </a:p>
        </p:txBody>
      </p:sp>
      <p:pic>
        <p:nvPicPr>
          <p:cNvPr id="8" name="Picture 7">
            <a:extLst>
              <a:ext uri="{FF2B5EF4-FFF2-40B4-BE49-F238E27FC236}">
                <a16:creationId xmlns:a16="http://schemas.microsoft.com/office/drawing/2014/main" id="{81FB1263-6A77-DCB5-8646-43A8701E65B0}"/>
              </a:ext>
            </a:extLst>
          </p:cNvPr>
          <p:cNvPicPr>
            <a:picLocks noChangeAspect="1"/>
          </p:cNvPicPr>
          <p:nvPr/>
        </p:nvPicPr>
        <p:blipFill>
          <a:blip r:embed="rId2"/>
          <a:stretch>
            <a:fillRect/>
          </a:stretch>
        </p:blipFill>
        <p:spPr>
          <a:xfrm>
            <a:off x="6807202" y="872123"/>
            <a:ext cx="4581648" cy="5187890"/>
          </a:xfrm>
          <a:prstGeom prst="rect">
            <a:avLst/>
          </a:prstGeom>
        </p:spPr>
      </p:pic>
      <p:pic>
        <p:nvPicPr>
          <p:cNvPr id="10" name="Picture 9">
            <a:extLst>
              <a:ext uri="{FF2B5EF4-FFF2-40B4-BE49-F238E27FC236}">
                <a16:creationId xmlns:a16="http://schemas.microsoft.com/office/drawing/2014/main" id="{3F0D4367-B959-039B-F455-99F32EE72489}"/>
              </a:ext>
            </a:extLst>
          </p:cNvPr>
          <p:cNvPicPr>
            <a:picLocks noChangeAspect="1"/>
          </p:cNvPicPr>
          <p:nvPr/>
        </p:nvPicPr>
        <p:blipFill>
          <a:blip r:embed="rId3"/>
          <a:stretch>
            <a:fillRect/>
          </a:stretch>
        </p:blipFill>
        <p:spPr>
          <a:xfrm>
            <a:off x="223520" y="1584959"/>
            <a:ext cx="6114907" cy="3537847"/>
          </a:xfrm>
          <a:prstGeom prst="rect">
            <a:avLst/>
          </a:prstGeom>
        </p:spPr>
      </p:pic>
      <p:sp>
        <p:nvSpPr>
          <p:cNvPr id="12" name="TextBox 11">
            <a:extLst>
              <a:ext uri="{FF2B5EF4-FFF2-40B4-BE49-F238E27FC236}">
                <a16:creationId xmlns:a16="http://schemas.microsoft.com/office/drawing/2014/main" id="{2E4AE9ED-3ACF-3A0E-9458-5C894386C8B1}"/>
              </a:ext>
            </a:extLst>
          </p:cNvPr>
          <p:cNvSpPr txBox="1"/>
          <p:nvPr/>
        </p:nvSpPr>
        <p:spPr>
          <a:xfrm>
            <a:off x="457200" y="995680"/>
            <a:ext cx="4765040" cy="369332"/>
          </a:xfrm>
          <a:prstGeom prst="rect">
            <a:avLst/>
          </a:prstGeom>
          <a:noFill/>
        </p:spPr>
        <p:txBody>
          <a:bodyPr wrap="square" rtlCol="0">
            <a:spAutoFit/>
          </a:bodyPr>
          <a:lstStyle/>
          <a:p>
            <a:r>
              <a:rPr lang="en-US" sz="1800" b="1" dirty="0"/>
              <a:t>Top Module(Connects XADC to LEDs)</a:t>
            </a:r>
            <a:endParaRPr lang="en-IN" sz="1800" b="1" dirty="0"/>
          </a:p>
        </p:txBody>
      </p:sp>
      <p:sp>
        <p:nvSpPr>
          <p:cNvPr id="13" name="TextBox 12">
            <a:extLst>
              <a:ext uri="{FF2B5EF4-FFF2-40B4-BE49-F238E27FC236}">
                <a16:creationId xmlns:a16="http://schemas.microsoft.com/office/drawing/2014/main" id="{3C820C9A-7565-E9B4-6EF2-F4E1071AE553}"/>
              </a:ext>
            </a:extLst>
          </p:cNvPr>
          <p:cNvSpPr txBox="1"/>
          <p:nvPr/>
        </p:nvSpPr>
        <p:spPr>
          <a:xfrm>
            <a:off x="6735827" y="286360"/>
            <a:ext cx="5029198" cy="369332"/>
          </a:xfrm>
          <a:prstGeom prst="rect">
            <a:avLst/>
          </a:prstGeom>
          <a:noFill/>
        </p:spPr>
        <p:txBody>
          <a:bodyPr wrap="square" rtlCol="0">
            <a:spAutoFit/>
          </a:bodyPr>
          <a:lstStyle/>
          <a:p>
            <a:r>
              <a:rPr lang="en-US" sz="1800" b="1" dirty="0"/>
              <a:t>XADC Interface (reads VAUX1 channel)</a:t>
            </a:r>
            <a:endParaRPr lang="en-IN" sz="1800" b="1" dirty="0"/>
          </a:p>
        </p:txBody>
      </p:sp>
    </p:spTree>
    <p:extLst>
      <p:ext uri="{BB962C8B-B14F-4D97-AF65-F5344CB8AC3E}">
        <p14:creationId xmlns:p14="http://schemas.microsoft.com/office/powerpoint/2010/main" val="221894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FA5D25E-561E-A827-65D9-647596E96956}"/>
              </a:ext>
            </a:extLst>
          </p:cNvPr>
          <p:cNvPicPr>
            <a:picLocks noGrp="1" noChangeAspect="1"/>
          </p:cNvPicPr>
          <p:nvPr>
            <p:ph type="pic" idx="2"/>
          </p:nvPr>
        </p:nvPicPr>
        <p:blipFill>
          <a:blip r:embed="rId2"/>
          <a:srcRect t="12500" b="12500"/>
          <a:stretch>
            <a:fillRect/>
          </a:stretch>
        </p:blipFill>
        <p:spPr>
          <a:xfrm>
            <a:off x="119919" y="1041273"/>
            <a:ext cx="4364736" cy="2387727"/>
          </a:xfrm>
        </p:spPr>
      </p:pic>
      <p:sp>
        <p:nvSpPr>
          <p:cNvPr id="3" name="Slide Number Placeholder 2">
            <a:extLst>
              <a:ext uri="{FF2B5EF4-FFF2-40B4-BE49-F238E27FC236}">
                <a16:creationId xmlns:a16="http://schemas.microsoft.com/office/drawing/2014/main" id="{46971E07-5BD5-CB4F-855A-0A3C80EEA7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pic>
        <p:nvPicPr>
          <p:cNvPr id="7" name="Picture 6">
            <a:extLst>
              <a:ext uri="{FF2B5EF4-FFF2-40B4-BE49-F238E27FC236}">
                <a16:creationId xmlns:a16="http://schemas.microsoft.com/office/drawing/2014/main" id="{DF61DA2B-2B32-2B54-B89F-4658EAC08CC6}"/>
              </a:ext>
            </a:extLst>
          </p:cNvPr>
          <p:cNvPicPr>
            <a:picLocks noChangeAspect="1"/>
          </p:cNvPicPr>
          <p:nvPr/>
        </p:nvPicPr>
        <p:blipFill>
          <a:blip r:embed="rId3"/>
          <a:stretch>
            <a:fillRect/>
          </a:stretch>
        </p:blipFill>
        <p:spPr>
          <a:xfrm rot="16200000">
            <a:off x="4827377" y="3877882"/>
            <a:ext cx="2842048" cy="2871533"/>
          </a:xfrm>
          <a:prstGeom prst="rect">
            <a:avLst/>
          </a:prstGeom>
        </p:spPr>
      </p:pic>
      <p:pic>
        <p:nvPicPr>
          <p:cNvPr id="9" name="Picture 8">
            <a:extLst>
              <a:ext uri="{FF2B5EF4-FFF2-40B4-BE49-F238E27FC236}">
                <a16:creationId xmlns:a16="http://schemas.microsoft.com/office/drawing/2014/main" id="{F1F450E7-ED77-5DF9-3AA2-FF9B6A6949E2}"/>
              </a:ext>
            </a:extLst>
          </p:cNvPr>
          <p:cNvPicPr>
            <a:picLocks noChangeAspect="1"/>
          </p:cNvPicPr>
          <p:nvPr/>
        </p:nvPicPr>
        <p:blipFill>
          <a:blip r:embed="rId4"/>
          <a:stretch>
            <a:fillRect/>
          </a:stretch>
        </p:blipFill>
        <p:spPr>
          <a:xfrm>
            <a:off x="5262233" y="1339786"/>
            <a:ext cx="2552700" cy="1790700"/>
          </a:xfrm>
          <a:prstGeom prst="rect">
            <a:avLst/>
          </a:prstGeom>
        </p:spPr>
      </p:pic>
      <p:sp>
        <p:nvSpPr>
          <p:cNvPr id="10" name="AutoShape 2">
            <a:extLst>
              <a:ext uri="{FF2B5EF4-FFF2-40B4-BE49-F238E27FC236}">
                <a16:creationId xmlns:a16="http://schemas.microsoft.com/office/drawing/2014/main" id="{90989CF5-DB3A-B538-97ED-41D20D2BF0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cxnSp>
        <p:nvCxnSpPr>
          <p:cNvPr id="14" name="Straight Arrow Connector 13">
            <a:extLst>
              <a:ext uri="{FF2B5EF4-FFF2-40B4-BE49-F238E27FC236}">
                <a16:creationId xmlns:a16="http://schemas.microsoft.com/office/drawing/2014/main" id="{238FAEE3-2995-E8A3-CA22-75538E9786F8}"/>
              </a:ext>
            </a:extLst>
          </p:cNvPr>
          <p:cNvCxnSpPr>
            <a:cxnSpLocks/>
          </p:cNvCxnSpPr>
          <p:nvPr/>
        </p:nvCxnSpPr>
        <p:spPr>
          <a:xfrm>
            <a:off x="4484655" y="2450592"/>
            <a:ext cx="1175981" cy="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15" name="Straight Arrow Connector 14">
            <a:extLst>
              <a:ext uri="{FF2B5EF4-FFF2-40B4-BE49-F238E27FC236}">
                <a16:creationId xmlns:a16="http://schemas.microsoft.com/office/drawing/2014/main" id="{6E7F479B-C0FC-C930-EBA1-2DEC04CB40DA}"/>
              </a:ext>
            </a:extLst>
          </p:cNvPr>
          <p:cNvCxnSpPr/>
          <p:nvPr/>
        </p:nvCxnSpPr>
        <p:spPr>
          <a:xfrm>
            <a:off x="4484655" y="2840736"/>
            <a:ext cx="10058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E709C99A-11EE-DBC6-9105-7F13052128AF}"/>
              </a:ext>
            </a:extLst>
          </p:cNvPr>
          <p:cNvSpPr txBox="1"/>
          <p:nvPr/>
        </p:nvSpPr>
        <p:spPr>
          <a:xfrm>
            <a:off x="4619767" y="2252473"/>
            <a:ext cx="594360" cy="230832"/>
          </a:xfrm>
          <a:prstGeom prst="rect">
            <a:avLst/>
          </a:prstGeom>
          <a:noFill/>
        </p:spPr>
        <p:txBody>
          <a:bodyPr wrap="square" rtlCol="0">
            <a:spAutoFit/>
          </a:bodyPr>
          <a:lstStyle/>
          <a:p>
            <a:r>
              <a:rPr lang="en-US" sz="900" dirty="0"/>
              <a:t>Signal</a:t>
            </a:r>
            <a:endParaRPr lang="en-IN" sz="900" dirty="0"/>
          </a:p>
        </p:txBody>
      </p:sp>
      <p:sp>
        <p:nvSpPr>
          <p:cNvPr id="17" name="TextBox 16">
            <a:extLst>
              <a:ext uri="{FF2B5EF4-FFF2-40B4-BE49-F238E27FC236}">
                <a16:creationId xmlns:a16="http://schemas.microsoft.com/office/drawing/2014/main" id="{B2CA8B4E-92D7-586A-0C4E-9CD6BCC3A04A}"/>
              </a:ext>
            </a:extLst>
          </p:cNvPr>
          <p:cNvSpPr txBox="1"/>
          <p:nvPr/>
        </p:nvSpPr>
        <p:spPr>
          <a:xfrm>
            <a:off x="4625407" y="2609904"/>
            <a:ext cx="594360" cy="230832"/>
          </a:xfrm>
          <a:prstGeom prst="rect">
            <a:avLst/>
          </a:prstGeom>
          <a:noFill/>
        </p:spPr>
        <p:txBody>
          <a:bodyPr wrap="square" rtlCol="0">
            <a:spAutoFit/>
          </a:bodyPr>
          <a:lstStyle/>
          <a:p>
            <a:r>
              <a:rPr lang="en-US" sz="900" dirty="0"/>
              <a:t>GND</a:t>
            </a:r>
            <a:endParaRPr lang="en-IN" sz="900" dirty="0"/>
          </a:p>
        </p:txBody>
      </p:sp>
      <p:cxnSp>
        <p:nvCxnSpPr>
          <p:cNvPr id="18" name="Straight Arrow Connector 17">
            <a:extLst>
              <a:ext uri="{FF2B5EF4-FFF2-40B4-BE49-F238E27FC236}">
                <a16:creationId xmlns:a16="http://schemas.microsoft.com/office/drawing/2014/main" id="{2B495138-7547-ED78-AB01-84F1985E8BC9}"/>
              </a:ext>
            </a:extLst>
          </p:cNvPr>
          <p:cNvCxnSpPr>
            <a:cxnSpLocks/>
          </p:cNvCxnSpPr>
          <p:nvPr/>
        </p:nvCxnSpPr>
        <p:spPr>
          <a:xfrm flipH="1">
            <a:off x="5660636" y="2367889"/>
            <a:ext cx="2632548" cy="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DA011510-F863-8D8C-662E-559B0820F598}"/>
              </a:ext>
            </a:extLst>
          </p:cNvPr>
          <p:cNvCxnSpPr>
            <a:cxnSpLocks/>
          </p:cNvCxnSpPr>
          <p:nvPr/>
        </p:nvCxnSpPr>
        <p:spPr>
          <a:xfrm flipH="1">
            <a:off x="5693664" y="2852928"/>
            <a:ext cx="259952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Connector: Elbow 34">
            <a:extLst>
              <a:ext uri="{FF2B5EF4-FFF2-40B4-BE49-F238E27FC236}">
                <a16:creationId xmlns:a16="http://schemas.microsoft.com/office/drawing/2014/main" id="{BF9C9A08-CAF7-8625-1A46-281B61CD981D}"/>
              </a:ext>
            </a:extLst>
          </p:cNvPr>
          <p:cNvCxnSpPr>
            <a:cxnSpLocks/>
          </p:cNvCxnSpPr>
          <p:nvPr/>
        </p:nvCxnSpPr>
        <p:spPr>
          <a:xfrm rot="16200000" flipH="1">
            <a:off x="5035793" y="3234751"/>
            <a:ext cx="1282719" cy="33024"/>
          </a:xfrm>
          <a:prstGeom prst="bentConnector3">
            <a:avLst>
              <a:gd name="adj1" fmla="val 50000"/>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42" name="Connector: Elbow 41">
            <a:extLst>
              <a:ext uri="{FF2B5EF4-FFF2-40B4-BE49-F238E27FC236}">
                <a16:creationId xmlns:a16="http://schemas.microsoft.com/office/drawing/2014/main" id="{39071D65-B36D-4DB8-94A2-D497D587F424}"/>
              </a:ext>
            </a:extLst>
          </p:cNvPr>
          <p:cNvCxnSpPr>
            <a:cxnSpLocks/>
          </p:cNvCxnSpPr>
          <p:nvPr/>
        </p:nvCxnSpPr>
        <p:spPr>
          <a:xfrm rot="16200000" flipH="1">
            <a:off x="5120840" y="3277334"/>
            <a:ext cx="1070018" cy="160563"/>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46" name="Connector: Elbow 45">
            <a:extLst>
              <a:ext uri="{FF2B5EF4-FFF2-40B4-BE49-F238E27FC236}">
                <a16:creationId xmlns:a16="http://schemas.microsoft.com/office/drawing/2014/main" id="{FAF950A1-FD48-34B9-CC94-CDD250A0FC83}"/>
              </a:ext>
            </a:extLst>
          </p:cNvPr>
          <p:cNvCxnSpPr>
            <a:cxnSpLocks/>
          </p:cNvCxnSpPr>
          <p:nvPr/>
        </p:nvCxnSpPr>
        <p:spPr>
          <a:xfrm rot="16200000" flipH="1">
            <a:off x="5273240" y="3429734"/>
            <a:ext cx="1070018" cy="160563"/>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D7FC9225-5A94-CCB1-6D66-E5B76A29F770}"/>
              </a:ext>
            </a:extLst>
          </p:cNvPr>
          <p:cNvSpPr txBox="1"/>
          <p:nvPr/>
        </p:nvSpPr>
        <p:spPr>
          <a:xfrm>
            <a:off x="7756879" y="2119720"/>
            <a:ext cx="594360" cy="230832"/>
          </a:xfrm>
          <a:prstGeom prst="rect">
            <a:avLst/>
          </a:prstGeom>
          <a:noFill/>
        </p:spPr>
        <p:txBody>
          <a:bodyPr wrap="square" rtlCol="0">
            <a:spAutoFit/>
          </a:bodyPr>
          <a:lstStyle/>
          <a:p>
            <a:r>
              <a:rPr lang="en-US" sz="900" dirty="0"/>
              <a:t>Signal</a:t>
            </a:r>
            <a:endParaRPr lang="en-IN" sz="900" dirty="0"/>
          </a:p>
        </p:txBody>
      </p:sp>
      <p:sp>
        <p:nvSpPr>
          <p:cNvPr id="48" name="TextBox 47">
            <a:extLst>
              <a:ext uri="{FF2B5EF4-FFF2-40B4-BE49-F238E27FC236}">
                <a16:creationId xmlns:a16="http://schemas.microsoft.com/office/drawing/2014/main" id="{B3EA0855-0A3D-8A3C-0075-B4965B6AE93C}"/>
              </a:ext>
            </a:extLst>
          </p:cNvPr>
          <p:cNvSpPr txBox="1"/>
          <p:nvPr/>
        </p:nvSpPr>
        <p:spPr>
          <a:xfrm>
            <a:off x="7814933" y="2658944"/>
            <a:ext cx="594360" cy="230832"/>
          </a:xfrm>
          <a:prstGeom prst="rect">
            <a:avLst/>
          </a:prstGeom>
          <a:noFill/>
        </p:spPr>
        <p:txBody>
          <a:bodyPr wrap="square" rtlCol="0">
            <a:spAutoFit/>
          </a:bodyPr>
          <a:lstStyle/>
          <a:p>
            <a:r>
              <a:rPr lang="en-US" sz="900" dirty="0"/>
              <a:t>GND</a:t>
            </a:r>
            <a:endParaRPr lang="en-IN" sz="900" dirty="0"/>
          </a:p>
        </p:txBody>
      </p:sp>
      <p:sp>
        <p:nvSpPr>
          <p:cNvPr id="49" name="TextBox 48">
            <a:extLst>
              <a:ext uri="{FF2B5EF4-FFF2-40B4-BE49-F238E27FC236}">
                <a16:creationId xmlns:a16="http://schemas.microsoft.com/office/drawing/2014/main" id="{505954CC-9342-5454-0181-86DD22A21689}"/>
              </a:ext>
            </a:extLst>
          </p:cNvPr>
          <p:cNvSpPr txBox="1"/>
          <p:nvPr/>
        </p:nvSpPr>
        <p:spPr>
          <a:xfrm>
            <a:off x="160225" y="3727515"/>
            <a:ext cx="4055159" cy="1785104"/>
          </a:xfrm>
          <a:prstGeom prst="rect">
            <a:avLst/>
          </a:prstGeom>
          <a:noFill/>
        </p:spPr>
        <p:txBody>
          <a:bodyPr wrap="square" rtlCol="0">
            <a:spAutoFit/>
          </a:bodyPr>
          <a:lstStyle/>
          <a:p>
            <a:r>
              <a:rPr lang="en-US" sz="1600" dirty="0">
                <a:solidFill>
                  <a:schemeClr val="accent6">
                    <a:lumMod val="50000"/>
                  </a:schemeClr>
                </a:solidFill>
                <a:latin typeface="Arial Rounded MT Bold" panose="020F0704030504030204" pitchFamily="34" charset="0"/>
              </a:rPr>
              <a:t>Frequency – 50 Hz</a:t>
            </a:r>
          </a:p>
          <a:p>
            <a:r>
              <a:rPr lang="en-US" sz="1600" dirty="0">
                <a:solidFill>
                  <a:schemeClr val="accent6">
                    <a:lumMod val="50000"/>
                  </a:schemeClr>
                </a:solidFill>
                <a:latin typeface="Arial Rounded MT Bold" panose="020F0704030504030204" pitchFamily="34" charset="0"/>
              </a:rPr>
              <a:t>Offset – o.5v</a:t>
            </a:r>
          </a:p>
          <a:p>
            <a:r>
              <a:rPr lang="en-US" sz="1600" dirty="0">
                <a:solidFill>
                  <a:schemeClr val="accent6">
                    <a:lumMod val="50000"/>
                  </a:schemeClr>
                </a:solidFill>
                <a:latin typeface="Arial Rounded MT Bold" panose="020F0704030504030204" pitchFamily="34" charset="0"/>
              </a:rPr>
              <a:t>Amplitude – </a:t>
            </a:r>
          </a:p>
          <a:p>
            <a:r>
              <a:rPr lang="en-US" sz="1600" dirty="0">
                <a:solidFill>
                  <a:schemeClr val="accent6">
                    <a:lumMod val="50000"/>
                  </a:schemeClr>
                </a:solidFill>
                <a:latin typeface="Arial Rounded MT Bold" panose="020F0704030504030204" pitchFamily="34" charset="0"/>
              </a:rPr>
              <a:t>Waves(TTL) – Sine</a:t>
            </a:r>
          </a:p>
          <a:p>
            <a:r>
              <a:rPr lang="en-US" sz="1600" dirty="0" err="1">
                <a:solidFill>
                  <a:schemeClr val="accent6">
                    <a:lumMod val="50000"/>
                  </a:schemeClr>
                </a:solidFill>
                <a:latin typeface="Arial Rounded MT Bold" panose="020F0704030504030204" pitchFamily="34" charset="0"/>
              </a:rPr>
              <a:t>Gnd</a:t>
            </a:r>
            <a:r>
              <a:rPr lang="en-US" sz="1600" dirty="0">
                <a:solidFill>
                  <a:schemeClr val="accent6">
                    <a:lumMod val="50000"/>
                  </a:schemeClr>
                </a:solidFill>
                <a:latin typeface="Arial Rounded MT Bold" panose="020F0704030504030204" pitchFamily="34" charset="0"/>
              </a:rPr>
              <a:t>                    FPGA(AD10N)</a:t>
            </a:r>
          </a:p>
          <a:p>
            <a:r>
              <a:rPr lang="en-US" sz="1600" dirty="0">
                <a:solidFill>
                  <a:schemeClr val="accent6">
                    <a:lumMod val="50000"/>
                  </a:schemeClr>
                </a:solidFill>
                <a:latin typeface="Arial Rounded MT Bold" panose="020F0704030504030204" pitchFamily="34" charset="0"/>
              </a:rPr>
              <a:t>Signal                 FPGA</a:t>
            </a:r>
            <a:r>
              <a:rPr lang="en-US" dirty="0">
                <a:solidFill>
                  <a:schemeClr val="accent6">
                    <a:lumMod val="50000"/>
                  </a:schemeClr>
                </a:solidFill>
                <a:latin typeface="Arial Rounded MT Bold" panose="020F0704030504030204" pitchFamily="34" charset="0"/>
              </a:rPr>
              <a:t>(</a:t>
            </a:r>
            <a:r>
              <a:rPr lang="en-US" sz="1600" dirty="0">
                <a:solidFill>
                  <a:schemeClr val="accent6">
                    <a:lumMod val="50000"/>
                  </a:schemeClr>
                </a:solidFill>
                <a:latin typeface="Arial Rounded MT Bold" panose="020F0704030504030204" pitchFamily="34" charset="0"/>
              </a:rPr>
              <a:t>AD10P)</a:t>
            </a:r>
          </a:p>
          <a:p>
            <a:endParaRPr lang="en-IN" dirty="0">
              <a:solidFill>
                <a:schemeClr val="accent6">
                  <a:lumMod val="50000"/>
                </a:schemeClr>
              </a:solidFill>
            </a:endParaRPr>
          </a:p>
        </p:txBody>
      </p:sp>
      <p:cxnSp>
        <p:nvCxnSpPr>
          <p:cNvPr id="51" name="Straight Arrow Connector 50">
            <a:extLst>
              <a:ext uri="{FF2B5EF4-FFF2-40B4-BE49-F238E27FC236}">
                <a16:creationId xmlns:a16="http://schemas.microsoft.com/office/drawing/2014/main" id="{857B5F57-E6A2-D739-633A-D464DF3FF4BB}"/>
              </a:ext>
            </a:extLst>
          </p:cNvPr>
          <p:cNvCxnSpPr/>
          <p:nvPr/>
        </p:nvCxnSpPr>
        <p:spPr>
          <a:xfrm>
            <a:off x="749808" y="4846320"/>
            <a:ext cx="82296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448677AB-0EA5-0ACC-23D9-314A2B3BE4A2}"/>
              </a:ext>
            </a:extLst>
          </p:cNvPr>
          <p:cNvCxnSpPr/>
          <p:nvPr/>
        </p:nvCxnSpPr>
        <p:spPr>
          <a:xfrm>
            <a:off x="902208" y="5117592"/>
            <a:ext cx="82296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1F4920EE-991E-276B-F1A6-42D67A65DDDF}"/>
              </a:ext>
            </a:extLst>
          </p:cNvPr>
          <p:cNvSpPr txBox="1"/>
          <p:nvPr/>
        </p:nvSpPr>
        <p:spPr>
          <a:xfrm>
            <a:off x="8054059" y="4059844"/>
            <a:ext cx="5258675" cy="1323439"/>
          </a:xfrm>
          <a:prstGeom prst="rect">
            <a:avLst/>
          </a:prstGeom>
          <a:noFill/>
        </p:spPr>
        <p:txBody>
          <a:bodyPr wrap="square" rtlCol="0">
            <a:spAutoFit/>
          </a:bodyPr>
          <a:lstStyle/>
          <a:p>
            <a:r>
              <a:rPr lang="en-US" sz="1600" dirty="0">
                <a:latin typeface="Arial Rounded MT Bold" panose="020F0704030504030204" pitchFamily="34" charset="0"/>
              </a:rPr>
              <a:t>Channel -1</a:t>
            </a:r>
          </a:p>
          <a:p>
            <a:r>
              <a:rPr lang="en-US" sz="1600" dirty="0">
                <a:latin typeface="Arial Rounded MT Bold" panose="020F0704030504030204" pitchFamily="34" charset="0"/>
              </a:rPr>
              <a:t>Voltage – 0.5 v</a:t>
            </a:r>
          </a:p>
          <a:p>
            <a:r>
              <a:rPr lang="en-US" sz="1600" dirty="0">
                <a:latin typeface="Arial Rounded MT Bold" panose="020F0704030504030204" pitchFamily="34" charset="0"/>
              </a:rPr>
              <a:t>Time/Div – 20ms</a:t>
            </a:r>
          </a:p>
          <a:p>
            <a:r>
              <a:rPr lang="en-US" sz="1600" dirty="0">
                <a:latin typeface="Arial Rounded MT Bold" panose="020F0704030504030204" pitchFamily="34" charset="0"/>
              </a:rPr>
              <a:t> </a:t>
            </a:r>
            <a:r>
              <a:rPr lang="en-US" sz="1600" dirty="0" err="1">
                <a:latin typeface="Arial Rounded MT Bold" panose="020F0704030504030204" pitchFamily="34" charset="0"/>
              </a:rPr>
              <a:t>Gnd</a:t>
            </a:r>
            <a:r>
              <a:rPr lang="en-US" sz="1600" dirty="0">
                <a:latin typeface="Arial Rounded MT Bold" panose="020F0704030504030204" pitchFamily="34" charset="0"/>
              </a:rPr>
              <a:t> </a:t>
            </a:r>
            <a:r>
              <a:rPr lang="en-US" sz="1600" dirty="0">
                <a:solidFill>
                  <a:schemeClr val="accent6">
                    <a:lumMod val="50000"/>
                  </a:schemeClr>
                </a:solidFill>
                <a:latin typeface="Arial Rounded MT Bold" panose="020F0704030504030204" pitchFamily="34" charset="0"/>
              </a:rPr>
              <a:t>                   FPGA(AD10N)</a:t>
            </a:r>
            <a:endParaRPr lang="en-US" sz="1600" dirty="0">
              <a:latin typeface="Arial Rounded MT Bold" panose="020F0704030504030204" pitchFamily="34" charset="0"/>
            </a:endParaRPr>
          </a:p>
          <a:p>
            <a:r>
              <a:rPr lang="en-IN" sz="1600" dirty="0">
                <a:latin typeface="Arial Rounded MT Bold" panose="020F0704030504030204" pitchFamily="34" charset="0"/>
              </a:rPr>
              <a:t> Signal                  FPGA(</a:t>
            </a:r>
            <a:r>
              <a:rPr lang="en-US" sz="1600" dirty="0">
                <a:solidFill>
                  <a:schemeClr val="accent6">
                    <a:lumMod val="50000"/>
                  </a:schemeClr>
                </a:solidFill>
                <a:latin typeface="Arial Rounded MT Bold" panose="020F0704030504030204" pitchFamily="34" charset="0"/>
              </a:rPr>
              <a:t>AD10P)</a:t>
            </a:r>
            <a:endParaRPr lang="en-IN" sz="1600" dirty="0">
              <a:latin typeface="Arial Rounded MT Bold" panose="020F0704030504030204" pitchFamily="34" charset="0"/>
            </a:endParaRPr>
          </a:p>
        </p:txBody>
      </p:sp>
      <p:cxnSp>
        <p:nvCxnSpPr>
          <p:cNvPr id="54" name="Straight Arrow Connector 53">
            <a:extLst>
              <a:ext uri="{FF2B5EF4-FFF2-40B4-BE49-F238E27FC236}">
                <a16:creationId xmlns:a16="http://schemas.microsoft.com/office/drawing/2014/main" id="{F0162C9D-3974-7D68-8D66-FE57CF6B433C}"/>
              </a:ext>
            </a:extLst>
          </p:cNvPr>
          <p:cNvCxnSpPr/>
          <p:nvPr/>
        </p:nvCxnSpPr>
        <p:spPr>
          <a:xfrm>
            <a:off x="8747760" y="4962144"/>
            <a:ext cx="82296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C4E21D33-2327-52A9-32C1-365ED93C51E4}"/>
              </a:ext>
            </a:extLst>
          </p:cNvPr>
          <p:cNvCxnSpPr/>
          <p:nvPr/>
        </p:nvCxnSpPr>
        <p:spPr>
          <a:xfrm>
            <a:off x="8857487" y="5215128"/>
            <a:ext cx="82296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57" name="TextBox 56">
            <a:extLst>
              <a:ext uri="{FF2B5EF4-FFF2-40B4-BE49-F238E27FC236}">
                <a16:creationId xmlns:a16="http://schemas.microsoft.com/office/drawing/2014/main" id="{397AC4F5-D323-FBB5-7E50-502F8BE5A377}"/>
              </a:ext>
            </a:extLst>
          </p:cNvPr>
          <p:cNvSpPr txBox="1"/>
          <p:nvPr/>
        </p:nvSpPr>
        <p:spPr>
          <a:xfrm>
            <a:off x="110646" y="220261"/>
            <a:ext cx="10572750" cy="523220"/>
          </a:xfrm>
          <a:prstGeom prst="rect">
            <a:avLst/>
          </a:prstGeom>
          <a:noFill/>
        </p:spPr>
        <p:txBody>
          <a:bodyPr wrap="square">
            <a:spAutoFit/>
          </a:bodyPr>
          <a:lstStyle/>
          <a:p>
            <a:r>
              <a:rPr lang="en-US" sz="2800" b="1" dirty="0"/>
              <a:t>Components, Specifications, and their Physical Connections</a:t>
            </a:r>
            <a:endParaRPr lang="en-IN" sz="2800" b="1" dirty="0"/>
          </a:p>
        </p:txBody>
      </p:sp>
      <p:pic>
        <p:nvPicPr>
          <p:cNvPr id="59" name="Picture 58">
            <a:extLst>
              <a:ext uri="{FF2B5EF4-FFF2-40B4-BE49-F238E27FC236}">
                <a16:creationId xmlns:a16="http://schemas.microsoft.com/office/drawing/2014/main" id="{EC4BDC76-7081-9976-6F97-43F2FEE03AE7}"/>
              </a:ext>
            </a:extLst>
          </p:cNvPr>
          <p:cNvPicPr>
            <a:picLocks noChangeAspect="1"/>
          </p:cNvPicPr>
          <p:nvPr/>
        </p:nvPicPr>
        <p:blipFill>
          <a:blip r:embed="rId5"/>
          <a:srcRect l="-115659" t="41686" r="115804" b="23497"/>
          <a:stretch>
            <a:fillRect/>
          </a:stretch>
        </p:blipFill>
        <p:spPr>
          <a:xfrm>
            <a:off x="4625407" y="2252473"/>
            <a:ext cx="3156497" cy="2387728"/>
          </a:xfrm>
          <a:prstGeom prst="rect">
            <a:avLst/>
          </a:prstGeom>
        </p:spPr>
      </p:pic>
      <p:pic>
        <p:nvPicPr>
          <p:cNvPr id="61" name="Picture 60">
            <a:extLst>
              <a:ext uri="{FF2B5EF4-FFF2-40B4-BE49-F238E27FC236}">
                <a16:creationId xmlns:a16="http://schemas.microsoft.com/office/drawing/2014/main" id="{5CCF6C93-6E8F-75A3-1119-52A4BE7F3962}"/>
              </a:ext>
            </a:extLst>
          </p:cNvPr>
          <p:cNvPicPr>
            <a:picLocks noChangeAspect="1"/>
          </p:cNvPicPr>
          <p:nvPr/>
        </p:nvPicPr>
        <p:blipFill>
          <a:blip r:embed="rId5"/>
          <a:srcRect t="32844" r="1132" b="40801"/>
          <a:stretch>
            <a:fillRect/>
          </a:stretch>
        </p:blipFill>
        <p:spPr>
          <a:xfrm>
            <a:off x="8326213" y="1339787"/>
            <a:ext cx="3540051" cy="2047202"/>
          </a:xfrm>
          <a:prstGeom prst="rect">
            <a:avLst/>
          </a:prstGeom>
        </p:spPr>
      </p:pic>
    </p:spTree>
    <p:extLst>
      <p:ext uri="{BB962C8B-B14F-4D97-AF65-F5344CB8AC3E}">
        <p14:creationId xmlns:p14="http://schemas.microsoft.com/office/powerpoint/2010/main" val="396237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9">
                                            <p:txEl>
                                              <p:pRg st="0" end="0"/>
                                            </p:txEl>
                                          </p:spTgt>
                                        </p:tgtEl>
                                        <p:attrNameLst>
                                          <p:attrName>style.visibility</p:attrName>
                                        </p:attrNameLst>
                                      </p:cBhvr>
                                      <p:to>
                                        <p:strVal val="visible"/>
                                      </p:to>
                                    </p:set>
                                    <p:animEffect transition="in" filter="fade">
                                      <p:cBhvr>
                                        <p:cTn id="28" dur="1000"/>
                                        <p:tgtEl>
                                          <p:spTgt spid="49">
                                            <p:txEl>
                                              <p:pRg st="0" end="0"/>
                                            </p:txEl>
                                          </p:spTgt>
                                        </p:tgtEl>
                                      </p:cBhvr>
                                    </p:animEffect>
                                    <p:anim calcmode="lin" valueType="num">
                                      <p:cBhvr>
                                        <p:cTn id="29"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49">
                                            <p:txEl>
                                              <p:pRg st="0" end="0"/>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49">
                                            <p:txEl>
                                              <p:pRg st="1" end="1"/>
                                            </p:txEl>
                                          </p:spTgt>
                                        </p:tgtEl>
                                        <p:attrNameLst>
                                          <p:attrName>style.visibility</p:attrName>
                                        </p:attrNameLst>
                                      </p:cBhvr>
                                      <p:to>
                                        <p:strVal val="visible"/>
                                      </p:to>
                                    </p:set>
                                    <p:animEffect transition="in" filter="fade">
                                      <p:cBhvr>
                                        <p:cTn id="33" dur="1000"/>
                                        <p:tgtEl>
                                          <p:spTgt spid="49">
                                            <p:txEl>
                                              <p:pRg st="1" end="1"/>
                                            </p:txEl>
                                          </p:spTgt>
                                        </p:tgtEl>
                                      </p:cBhvr>
                                    </p:animEffect>
                                    <p:anim calcmode="lin" valueType="num">
                                      <p:cBhvr>
                                        <p:cTn id="34" dur="1000" fill="hold"/>
                                        <p:tgtEl>
                                          <p:spTgt spid="49">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49">
                                            <p:txEl>
                                              <p:pRg st="1" end="1"/>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49">
                                            <p:txEl>
                                              <p:pRg st="2" end="2"/>
                                            </p:txEl>
                                          </p:spTgt>
                                        </p:tgtEl>
                                        <p:attrNameLst>
                                          <p:attrName>style.visibility</p:attrName>
                                        </p:attrNameLst>
                                      </p:cBhvr>
                                      <p:to>
                                        <p:strVal val="visible"/>
                                      </p:to>
                                    </p:set>
                                    <p:animEffect transition="in" filter="fade">
                                      <p:cBhvr>
                                        <p:cTn id="38" dur="1000"/>
                                        <p:tgtEl>
                                          <p:spTgt spid="49">
                                            <p:txEl>
                                              <p:pRg st="2" end="2"/>
                                            </p:txEl>
                                          </p:spTgt>
                                        </p:tgtEl>
                                      </p:cBhvr>
                                    </p:animEffect>
                                    <p:anim calcmode="lin" valueType="num">
                                      <p:cBhvr>
                                        <p:cTn id="39" dur="1000" fill="hold"/>
                                        <p:tgtEl>
                                          <p:spTgt spid="49">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49">
                                            <p:txEl>
                                              <p:pRg st="2" end="2"/>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49">
                                            <p:txEl>
                                              <p:pRg st="3" end="3"/>
                                            </p:txEl>
                                          </p:spTgt>
                                        </p:tgtEl>
                                        <p:attrNameLst>
                                          <p:attrName>style.visibility</p:attrName>
                                        </p:attrNameLst>
                                      </p:cBhvr>
                                      <p:to>
                                        <p:strVal val="visible"/>
                                      </p:to>
                                    </p:set>
                                    <p:animEffect transition="in" filter="fade">
                                      <p:cBhvr>
                                        <p:cTn id="43" dur="1000"/>
                                        <p:tgtEl>
                                          <p:spTgt spid="49">
                                            <p:txEl>
                                              <p:pRg st="3" end="3"/>
                                            </p:txEl>
                                          </p:spTgt>
                                        </p:tgtEl>
                                      </p:cBhvr>
                                    </p:animEffect>
                                    <p:anim calcmode="lin" valueType="num">
                                      <p:cBhvr>
                                        <p:cTn id="44" dur="1000" fill="hold"/>
                                        <p:tgtEl>
                                          <p:spTgt spid="49">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49">
                                            <p:txEl>
                                              <p:pRg st="3" end="3"/>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49">
                                            <p:txEl>
                                              <p:pRg st="4" end="4"/>
                                            </p:txEl>
                                          </p:spTgt>
                                        </p:tgtEl>
                                        <p:attrNameLst>
                                          <p:attrName>style.visibility</p:attrName>
                                        </p:attrNameLst>
                                      </p:cBhvr>
                                      <p:to>
                                        <p:strVal val="visible"/>
                                      </p:to>
                                    </p:set>
                                    <p:animEffect transition="in" filter="fade">
                                      <p:cBhvr>
                                        <p:cTn id="48" dur="1000"/>
                                        <p:tgtEl>
                                          <p:spTgt spid="49">
                                            <p:txEl>
                                              <p:pRg st="4" end="4"/>
                                            </p:txEl>
                                          </p:spTgt>
                                        </p:tgtEl>
                                      </p:cBhvr>
                                    </p:animEffect>
                                    <p:anim calcmode="lin" valueType="num">
                                      <p:cBhvr>
                                        <p:cTn id="49" dur="1000" fill="hold"/>
                                        <p:tgtEl>
                                          <p:spTgt spid="49">
                                            <p:txEl>
                                              <p:pRg st="4" end="4"/>
                                            </p:txEl>
                                          </p:spTgt>
                                        </p:tgtEl>
                                        <p:attrNameLst>
                                          <p:attrName>ppt_x</p:attrName>
                                        </p:attrNameLst>
                                      </p:cBhvr>
                                      <p:tavLst>
                                        <p:tav tm="0">
                                          <p:val>
                                            <p:strVal val="#ppt_x"/>
                                          </p:val>
                                        </p:tav>
                                        <p:tav tm="100000">
                                          <p:val>
                                            <p:strVal val="#ppt_x"/>
                                          </p:val>
                                        </p:tav>
                                      </p:tavLst>
                                    </p:anim>
                                    <p:anim calcmode="lin" valueType="num">
                                      <p:cBhvr>
                                        <p:cTn id="50" dur="1000" fill="hold"/>
                                        <p:tgtEl>
                                          <p:spTgt spid="49">
                                            <p:txEl>
                                              <p:pRg st="4" end="4"/>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9">
                                            <p:txEl>
                                              <p:pRg st="5" end="5"/>
                                            </p:txEl>
                                          </p:spTgt>
                                        </p:tgtEl>
                                        <p:attrNameLst>
                                          <p:attrName>style.visibility</p:attrName>
                                        </p:attrNameLst>
                                      </p:cBhvr>
                                      <p:to>
                                        <p:strVal val="visible"/>
                                      </p:to>
                                    </p:set>
                                    <p:animEffect transition="in" filter="fade">
                                      <p:cBhvr>
                                        <p:cTn id="53" dur="1000"/>
                                        <p:tgtEl>
                                          <p:spTgt spid="49">
                                            <p:txEl>
                                              <p:pRg st="5" end="5"/>
                                            </p:txEl>
                                          </p:spTgt>
                                        </p:tgtEl>
                                      </p:cBhvr>
                                    </p:animEffect>
                                    <p:anim calcmode="lin" valueType="num">
                                      <p:cBhvr>
                                        <p:cTn id="54" dur="1000" fill="hold"/>
                                        <p:tgtEl>
                                          <p:spTgt spid="49">
                                            <p:txEl>
                                              <p:pRg st="5" end="5"/>
                                            </p:txEl>
                                          </p:spTgt>
                                        </p:tgtEl>
                                        <p:attrNameLst>
                                          <p:attrName>ppt_x</p:attrName>
                                        </p:attrNameLst>
                                      </p:cBhvr>
                                      <p:tavLst>
                                        <p:tav tm="0">
                                          <p:val>
                                            <p:strVal val="#ppt_x"/>
                                          </p:val>
                                        </p:tav>
                                        <p:tav tm="100000">
                                          <p:val>
                                            <p:strVal val="#ppt_x"/>
                                          </p:val>
                                        </p:tav>
                                      </p:tavLst>
                                    </p:anim>
                                    <p:anim calcmode="lin" valueType="num">
                                      <p:cBhvr>
                                        <p:cTn id="55" dur="1000" fill="hold"/>
                                        <p:tgtEl>
                                          <p:spTgt spid="4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1000"/>
                                        <p:tgtEl>
                                          <p:spTgt spid="53"/>
                                        </p:tgtEl>
                                      </p:cBhvr>
                                    </p:animEffect>
                                    <p:anim calcmode="lin" valueType="num">
                                      <p:cBhvr>
                                        <p:cTn id="61" dur="1000" fill="hold"/>
                                        <p:tgtEl>
                                          <p:spTgt spid="53"/>
                                        </p:tgtEl>
                                        <p:attrNameLst>
                                          <p:attrName>ppt_x</p:attrName>
                                        </p:attrNameLst>
                                      </p:cBhvr>
                                      <p:tavLst>
                                        <p:tav tm="0">
                                          <p:val>
                                            <p:strVal val="#ppt_x"/>
                                          </p:val>
                                        </p:tav>
                                        <p:tav tm="100000">
                                          <p:val>
                                            <p:strVal val="#ppt_x"/>
                                          </p:val>
                                        </p:tav>
                                      </p:tavLst>
                                    </p:anim>
                                    <p:anim calcmode="lin" valueType="num">
                                      <p:cBhvr>
                                        <p:cTn id="62"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fade">
                                      <p:cBhvr>
                                        <p:cTn id="81" dur="1000"/>
                                        <p:tgtEl>
                                          <p:spTgt spid="15"/>
                                        </p:tgtEl>
                                      </p:cBhvr>
                                    </p:animEffect>
                                    <p:anim calcmode="lin" valueType="num">
                                      <p:cBhvr>
                                        <p:cTn id="82" dur="1000" fill="hold"/>
                                        <p:tgtEl>
                                          <p:spTgt spid="15"/>
                                        </p:tgtEl>
                                        <p:attrNameLst>
                                          <p:attrName>ppt_x</p:attrName>
                                        </p:attrNameLst>
                                      </p:cBhvr>
                                      <p:tavLst>
                                        <p:tav tm="0">
                                          <p:val>
                                            <p:strVal val="#ppt_x"/>
                                          </p:val>
                                        </p:tav>
                                        <p:tav tm="100000">
                                          <p:val>
                                            <p:strVal val="#ppt_x"/>
                                          </p:val>
                                        </p:tav>
                                      </p:tavLst>
                                    </p:anim>
                                    <p:anim calcmode="lin" valueType="num">
                                      <p:cBhvr>
                                        <p:cTn id="8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1000"/>
                                        <p:tgtEl>
                                          <p:spTgt spid="17"/>
                                        </p:tgtEl>
                                      </p:cBhvr>
                                    </p:animEffect>
                                    <p:anim calcmode="lin" valueType="num">
                                      <p:cBhvr>
                                        <p:cTn id="89" dur="1000" fill="hold"/>
                                        <p:tgtEl>
                                          <p:spTgt spid="17"/>
                                        </p:tgtEl>
                                        <p:attrNameLst>
                                          <p:attrName>ppt_x</p:attrName>
                                        </p:attrNameLst>
                                      </p:cBhvr>
                                      <p:tavLst>
                                        <p:tav tm="0">
                                          <p:val>
                                            <p:strVal val="#ppt_x"/>
                                          </p:val>
                                        </p:tav>
                                        <p:tav tm="100000">
                                          <p:val>
                                            <p:strVal val="#ppt_x"/>
                                          </p:val>
                                        </p:tav>
                                      </p:tavLst>
                                    </p:anim>
                                    <p:anim calcmode="lin" valueType="num">
                                      <p:cBhvr>
                                        <p:cTn id="9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1000"/>
                                        <p:tgtEl>
                                          <p:spTgt spid="18"/>
                                        </p:tgtEl>
                                      </p:cBhvr>
                                    </p:animEffect>
                                    <p:anim calcmode="lin" valueType="num">
                                      <p:cBhvr>
                                        <p:cTn id="96" dur="1000" fill="hold"/>
                                        <p:tgtEl>
                                          <p:spTgt spid="18"/>
                                        </p:tgtEl>
                                        <p:attrNameLst>
                                          <p:attrName>ppt_x</p:attrName>
                                        </p:attrNameLst>
                                      </p:cBhvr>
                                      <p:tavLst>
                                        <p:tav tm="0">
                                          <p:val>
                                            <p:strVal val="#ppt_x"/>
                                          </p:val>
                                        </p:tav>
                                        <p:tav tm="100000">
                                          <p:val>
                                            <p:strVal val="#ppt_x"/>
                                          </p:val>
                                        </p:tav>
                                      </p:tavLst>
                                    </p:anim>
                                    <p:anim calcmode="lin" valueType="num">
                                      <p:cBhvr>
                                        <p:cTn id="9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1000"/>
                                        <p:tgtEl>
                                          <p:spTgt spid="47"/>
                                        </p:tgtEl>
                                      </p:cBhvr>
                                    </p:animEffect>
                                    <p:anim calcmode="lin" valueType="num">
                                      <p:cBhvr>
                                        <p:cTn id="103" dur="1000" fill="hold"/>
                                        <p:tgtEl>
                                          <p:spTgt spid="47"/>
                                        </p:tgtEl>
                                        <p:attrNameLst>
                                          <p:attrName>ppt_x</p:attrName>
                                        </p:attrNameLst>
                                      </p:cBhvr>
                                      <p:tavLst>
                                        <p:tav tm="0">
                                          <p:val>
                                            <p:strVal val="#ppt_x"/>
                                          </p:val>
                                        </p:tav>
                                        <p:tav tm="100000">
                                          <p:val>
                                            <p:strVal val="#ppt_x"/>
                                          </p:val>
                                        </p:tav>
                                      </p:tavLst>
                                    </p:anim>
                                    <p:anim calcmode="lin" valueType="num">
                                      <p:cBhvr>
                                        <p:cTn id="104"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1000"/>
                                        <p:tgtEl>
                                          <p:spTgt spid="22"/>
                                        </p:tgtEl>
                                      </p:cBhvr>
                                    </p:animEffect>
                                    <p:anim calcmode="lin" valueType="num">
                                      <p:cBhvr>
                                        <p:cTn id="110" dur="1000" fill="hold"/>
                                        <p:tgtEl>
                                          <p:spTgt spid="22"/>
                                        </p:tgtEl>
                                        <p:attrNameLst>
                                          <p:attrName>ppt_x</p:attrName>
                                        </p:attrNameLst>
                                      </p:cBhvr>
                                      <p:tavLst>
                                        <p:tav tm="0">
                                          <p:val>
                                            <p:strVal val="#ppt_x"/>
                                          </p:val>
                                        </p:tav>
                                        <p:tav tm="100000">
                                          <p:val>
                                            <p:strVal val="#ppt_x"/>
                                          </p:val>
                                        </p:tav>
                                      </p:tavLst>
                                    </p:anim>
                                    <p:anim calcmode="lin" valueType="num">
                                      <p:cBhvr>
                                        <p:cTn id="11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48"/>
                                        </p:tgtEl>
                                        <p:attrNameLst>
                                          <p:attrName>style.visibility</p:attrName>
                                        </p:attrNameLst>
                                      </p:cBhvr>
                                      <p:to>
                                        <p:strVal val="visible"/>
                                      </p:to>
                                    </p:set>
                                    <p:animEffect transition="in" filter="fade">
                                      <p:cBhvr>
                                        <p:cTn id="116" dur="1000"/>
                                        <p:tgtEl>
                                          <p:spTgt spid="48"/>
                                        </p:tgtEl>
                                      </p:cBhvr>
                                    </p:animEffect>
                                    <p:anim calcmode="lin" valueType="num">
                                      <p:cBhvr>
                                        <p:cTn id="117" dur="1000" fill="hold"/>
                                        <p:tgtEl>
                                          <p:spTgt spid="48"/>
                                        </p:tgtEl>
                                        <p:attrNameLst>
                                          <p:attrName>ppt_x</p:attrName>
                                        </p:attrNameLst>
                                      </p:cBhvr>
                                      <p:tavLst>
                                        <p:tav tm="0">
                                          <p:val>
                                            <p:strVal val="#ppt_x"/>
                                          </p:val>
                                        </p:tav>
                                        <p:tav tm="100000">
                                          <p:val>
                                            <p:strVal val="#ppt_x"/>
                                          </p:val>
                                        </p:tav>
                                      </p:tavLst>
                                    </p:anim>
                                    <p:anim calcmode="lin" valueType="num">
                                      <p:cBhvr>
                                        <p:cTn id="118"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fade">
                                      <p:cBhvr>
                                        <p:cTn id="123" dur="1000"/>
                                        <p:tgtEl>
                                          <p:spTgt spid="35"/>
                                        </p:tgtEl>
                                      </p:cBhvr>
                                    </p:animEffect>
                                    <p:anim calcmode="lin" valueType="num">
                                      <p:cBhvr>
                                        <p:cTn id="124" dur="1000" fill="hold"/>
                                        <p:tgtEl>
                                          <p:spTgt spid="35"/>
                                        </p:tgtEl>
                                        <p:attrNameLst>
                                          <p:attrName>ppt_x</p:attrName>
                                        </p:attrNameLst>
                                      </p:cBhvr>
                                      <p:tavLst>
                                        <p:tav tm="0">
                                          <p:val>
                                            <p:strVal val="#ppt_x"/>
                                          </p:val>
                                        </p:tav>
                                        <p:tav tm="100000">
                                          <p:val>
                                            <p:strVal val="#ppt_x"/>
                                          </p:val>
                                        </p:tav>
                                      </p:tavLst>
                                    </p:anim>
                                    <p:anim calcmode="lin" valueType="num">
                                      <p:cBhvr>
                                        <p:cTn id="12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nodeType="click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1000"/>
                                        <p:tgtEl>
                                          <p:spTgt spid="42"/>
                                        </p:tgtEl>
                                      </p:cBhvr>
                                    </p:animEffect>
                                    <p:anim calcmode="lin" valueType="num">
                                      <p:cBhvr>
                                        <p:cTn id="131" dur="1000" fill="hold"/>
                                        <p:tgtEl>
                                          <p:spTgt spid="42"/>
                                        </p:tgtEl>
                                        <p:attrNameLst>
                                          <p:attrName>ppt_x</p:attrName>
                                        </p:attrNameLst>
                                      </p:cBhvr>
                                      <p:tavLst>
                                        <p:tav tm="0">
                                          <p:val>
                                            <p:strVal val="#ppt_x"/>
                                          </p:val>
                                        </p:tav>
                                        <p:tav tm="100000">
                                          <p:val>
                                            <p:strVal val="#ppt_x"/>
                                          </p:val>
                                        </p:tav>
                                      </p:tavLst>
                                    </p:anim>
                                    <p:anim calcmode="lin" valueType="num">
                                      <p:cBhvr>
                                        <p:cTn id="132"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46"/>
                                        </p:tgtEl>
                                        <p:attrNameLst>
                                          <p:attrName>style.visibility</p:attrName>
                                        </p:attrNameLst>
                                      </p:cBhvr>
                                      <p:to>
                                        <p:strVal val="visible"/>
                                      </p:to>
                                    </p:set>
                                    <p:animEffect transition="in" filter="fade">
                                      <p:cBhvr>
                                        <p:cTn id="137" dur="1000"/>
                                        <p:tgtEl>
                                          <p:spTgt spid="46"/>
                                        </p:tgtEl>
                                      </p:cBhvr>
                                    </p:animEffect>
                                    <p:anim calcmode="lin" valueType="num">
                                      <p:cBhvr>
                                        <p:cTn id="138" dur="1000" fill="hold"/>
                                        <p:tgtEl>
                                          <p:spTgt spid="46"/>
                                        </p:tgtEl>
                                        <p:attrNameLst>
                                          <p:attrName>ppt_x</p:attrName>
                                        </p:attrNameLst>
                                      </p:cBhvr>
                                      <p:tavLst>
                                        <p:tav tm="0">
                                          <p:val>
                                            <p:strVal val="#ppt_x"/>
                                          </p:val>
                                        </p:tav>
                                        <p:tav tm="100000">
                                          <p:val>
                                            <p:strVal val="#ppt_x"/>
                                          </p:val>
                                        </p:tav>
                                      </p:tavLst>
                                    </p:anim>
                                    <p:anim calcmode="lin" valueType="num">
                                      <p:cBhvr>
                                        <p:cTn id="13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47" grpId="0"/>
      <p:bldP spid="48" grpId="0"/>
      <p:bldP spid="49" grpId="0" build="allAtOnce"/>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2039F28-157B-08D5-EFEB-8B2CCF1B0723}"/>
              </a:ext>
            </a:extLst>
          </p:cNvPr>
          <p:cNvPicPr>
            <a:picLocks noGrp="1" noChangeAspect="1"/>
          </p:cNvPicPr>
          <p:nvPr>
            <p:ph type="pic" idx="2"/>
          </p:nvPr>
        </p:nvPicPr>
        <p:blipFill>
          <a:blip r:embed="rId2"/>
          <a:srcRect t="37036" b="37036"/>
          <a:stretch>
            <a:fillRect/>
          </a:stretch>
        </p:blipFill>
        <p:spPr>
          <a:xfrm>
            <a:off x="470409" y="721361"/>
            <a:ext cx="4507992" cy="2703295"/>
          </a:xfrm>
        </p:spPr>
      </p:pic>
      <p:sp>
        <p:nvSpPr>
          <p:cNvPr id="3" name="Slide Number Placeholder 2">
            <a:extLst>
              <a:ext uri="{FF2B5EF4-FFF2-40B4-BE49-F238E27FC236}">
                <a16:creationId xmlns:a16="http://schemas.microsoft.com/office/drawing/2014/main" id="{8C73C7AF-D132-34E2-CDE7-88FCE52E52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sp>
        <p:nvSpPr>
          <p:cNvPr id="4" name="TextBox 3">
            <a:extLst>
              <a:ext uri="{FF2B5EF4-FFF2-40B4-BE49-F238E27FC236}">
                <a16:creationId xmlns:a16="http://schemas.microsoft.com/office/drawing/2014/main" id="{21248933-243E-99B3-AD78-5DE700F7BAF1}"/>
              </a:ext>
            </a:extLst>
          </p:cNvPr>
          <p:cNvSpPr txBox="1"/>
          <p:nvPr/>
        </p:nvSpPr>
        <p:spPr>
          <a:xfrm>
            <a:off x="246888" y="155448"/>
            <a:ext cx="8174736" cy="338554"/>
          </a:xfrm>
          <a:prstGeom prst="rect">
            <a:avLst/>
          </a:prstGeom>
          <a:noFill/>
        </p:spPr>
        <p:txBody>
          <a:bodyPr wrap="square" rtlCol="0">
            <a:spAutoFit/>
          </a:bodyPr>
          <a:lstStyle/>
          <a:p>
            <a:r>
              <a:rPr lang="en-US" sz="1600" b="1" dirty="0"/>
              <a:t>OUTPUT OF ITERATION 2 AND FUTURE WORK</a:t>
            </a:r>
            <a:endParaRPr lang="en-IN" sz="1600" b="1" dirty="0"/>
          </a:p>
        </p:txBody>
      </p:sp>
      <p:sp>
        <p:nvSpPr>
          <p:cNvPr id="7" name="TextBox 6">
            <a:extLst>
              <a:ext uri="{FF2B5EF4-FFF2-40B4-BE49-F238E27FC236}">
                <a16:creationId xmlns:a16="http://schemas.microsoft.com/office/drawing/2014/main" id="{9B38C28C-1327-507A-8F80-A64F362E717B}"/>
              </a:ext>
            </a:extLst>
          </p:cNvPr>
          <p:cNvSpPr txBox="1"/>
          <p:nvPr/>
        </p:nvSpPr>
        <p:spPr>
          <a:xfrm>
            <a:off x="5608320" y="711200"/>
            <a:ext cx="6400800" cy="2677656"/>
          </a:xfrm>
          <a:prstGeom prst="rect">
            <a:avLst/>
          </a:prstGeom>
          <a:noFill/>
        </p:spPr>
        <p:txBody>
          <a:bodyPr wrap="square" rtlCol="0">
            <a:spAutoFit/>
          </a:bodyPr>
          <a:lstStyle/>
          <a:p>
            <a:r>
              <a:rPr lang="en-US" b="1" dirty="0">
                <a:latin typeface="Verdana" panose="020B0604030504040204" pitchFamily="34" charset="0"/>
                <a:ea typeface="Verdana" panose="020B0604030504040204" pitchFamily="34" charset="0"/>
              </a:rPr>
              <a:t>  OUTPUT RESULTS</a:t>
            </a:r>
            <a:r>
              <a:rPr lang="en-US" dirty="0">
                <a:latin typeface="Verdana" panose="020B0604030504040204" pitchFamily="34" charset="0"/>
                <a:ea typeface="Verdana" panose="020B0604030504040204" pitchFamily="34" charset="0"/>
              </a:rPr>
              <a:t>:</a:t>
            </a:r>
          </a:p>
          <a:p>
            <a:pPr marL="285750" indent="-285750">
              <a:buFont typeface="Wingdings" panose="05000000000000000000" pitchFamily="2" charset="2"/>
              <a:buChar char="§"/>
            </a:pPr>
            <a:r>
              <a:rPr lang="en-US" dirty="0">
                <a:latin typeface="Verdana" panose="020B0604030504040204" pitchFamily="34" charset="0"/>
                <a:ea typeface="Verdana" panose="020B0604030504040204" pitchFamily="34" charset="0"/>
              </a:rPr>
              <a:t>Verified that the Nexys4 XADC input (AD1P/AD1N) successfully receives an analog signal.</a:t>
            </a:r>
          </a:p>
          <a:p>
            <a:pPr marL="285750" indent="-285750">
              <a:buFont typeface="Wingdings" panose="05000000000000000000" pitchFamily="2" charset="2"/>
              <a:buChar char="§"/>
            </a:pPr>
            <a:endParaRPr lang="en-US"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US" dirty="0">
                <a:latin typeface="Verdana" panose="020B0604030504040204" pitchFamily="34" charset="0"/>
                <a:ea typeface="Verdana" panose="020B0604030504040204" pitchFamily="34" charset="0"/>
              </a:rPr>
              <a:t>Checked the oscilloscope waveform to confirm correct amplitude and offset before feeding into FPGA.</a:t>
            </a:r>
          </a:p>
          <a:p>
            <a:pPr marL="285750" indent="-285750">
              <a:buFont typeface="Wingdings" panose="05000000000000000000" pitchFamily="2" charset="2"/>
              <a:buChar char="§"/>
            </a:pPr>
            <a:endParaRPr lang="en-US"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US" dirty="0">
                <a:latin typeface="Verdana" panose="020B0604030504040204" pitchFamily="34" charset="0"/>
                <a:ea typeface="Verdana" panose="020B0604030504040204" pitchFamily="34" charset="0"/>
              </a:rPr>
              <a:t>Ensured the shared ground between FPGA, oscilloscope, and function generator is correct.</a:t>
            </a:r>
          </a:p>
          <a:p>
            <a:pPr marL="285750" indent="-285750">
              <a:buFont typeface="Wingdings" panose="05000000000000000000" pitchFamily="2" charset="2"/>
              <a:buChar char="§"/>
            </a:pPr>
            <a:endParaRPr lang="en-US"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US" dirty="0">
                <a:latin typeface="Verdana" panose="020B0604030504040204" pitchFamily="34" charset="0"/>
                <a:ea typeface="Verdana" panose="020B0604030504040204" pitchFamily="34" charset="0"/>
              </a:rPr>
              <a:t>Confirmed that the analog-to-digital flow is working up to FPGA pins</a:t>
            </a:r>
            <a:r>
              <a:rPr lang="en-US" dirty="0"/>
              <a:t>.</a:t>
            </a:r>
            <a:endParaRPr lang="en-IN" dirty="0"/>
          </a:p>
        </p:txBody>
      </p:sp>
      <p:pic>
        <p:nvPicPr>
          <p:cNvPr id="9" name="Picture 8">
            <a:extLst>
              <a:ext uri="{FF2B5EF4-FFF2-40B4-BE49-F238E27FC236}">
                <a16:creationId xmlns:a16="http://schemas.microsoft.com/office/drawing/2014/main" id="{58E96A15-AE10-3A51-E432-BF5991DE93D0}"/>
              </a:ext>
            </a:extLst>
          </p:cNvPr>
          <p:cNvPicPr>
            <a:picLocks noChangeAspect="1"/>
          </p:cNvPicPr>
          <p:nvPr/>
        </p:nvPicPr>
        <p:blipFill>
          <a:blip r:embed="rId3"/>
          <a:stretch>
            <a:fillRect/>
          </a:stretch>
        </p:blipFill>
        <p:spPr>
          <a:xfrm>
            <a:off x="470409" y="3652015"/>
            <a:ext cx="4507991" cy="3078890"/>
          </a:xfrm>
          <a:prstGeom prst="rect">
            <a:avLst/>
          </a:prstGeom>
        </p:spPr>
      </p:pic>
      <p:sp>
        <p:nvSpPr>
          <p:cNvPr id="10" name="TextBox 9">
            <a:extLst>
              <a:ext uri="{FF2B5EF4-FFF2-40B4-BE49-F238E27FC236}">
                <a16:creationId xmlns:a16="http://schemas.microsoft.com/office/drawing/2014/main" id="{4C8E0E7F-95C3-4521-F1A0-DD8D6FF561E8}"/>
              </a:ext>
            </a:extLst>
          </p:cNvPr>
          <p:cNvSpPr txBox="1"/>
          <p:nvPr/>
        </p:nvSpPr>
        <p:spPr>
          <a:xfrm>
            <a:off x="5608320" y="3744910"/>
            <a:ext cx="6400800" cy="3108543"/>
          </a:xfrm>
          <a:prstGeom prst="rect">
            <a:avLst/>
          </a:prstGeom>
          <a:noFill/>
        </p:spPr>
        <p:txBody>
          <a:bodyPr wrap="square" rtlCol="0">
            <a:spAutoFit/>
          </a:bodyPr>
          <a:lstStyle/>
          <a:p>
            <a:r>
              <a:rPr lang="en-IN" b="1" dirty="0">
                <a:latin typeface="Verdana" panose="020B0604030504040204" pitchFamily="34" charset="0"/>
                <a:ea typeface="Verdana" panose="020B0604030504040204" pitchFamily="34" charset="0"/>
              </a:rPr>
              <a:t>PHASE 2 WORK</a:t>
            </a:r>
            <a:r>
              <a:rPr lang="en-IN" dirty="0">
                <a:latin typeface="Verdana" panose="020B0604030504040204" pitchFamily="34" charset="0"/>
                <a:ea typeface="Verdana" panose="020B0604030504040204" pitchFamily="34" charset="0"/>
              </a:rPr>
              <a:t>:</a:t>
            </a:r>
          </a:p>
          <a:p>
            <a:pPr marL="285750" indent="-285750">
              <a:buFont typeface="Wingdings" panose="05000000000000000000" pitchFamily="2" charset="2"/>
              <a:buChar char="§"/>
            </a:pPr>
            <a:r>
              <a:rPr lang="en-IN" dirty="0">
                <a:latin typeface="Verdana" panose="020B0604030504040204" pitchFamily="34" charset="0"/>
                <a:ea typeface="Verdana" panose="020B0604030504040204" pitchFamily="34" charset="0"/>
              </a:rPr>
              <a:t>Ensures the FPGA can safely accept </a:t>
            </a:r>
            <a:r>
              <a:rPr lang="en-IN" dirty="0" err="1">
                <a:latin typeface="Verdana" panose="020B0604030504040204" pitchFamily="34" charset="0"/>
                <a:ea typeface="Verdana" panose="020B0604030504040204" pitchFamily="34" charset="0"/>
              </a:rPr>
              <a:t>analog</a:t>
            </a:r>
            <a:r>
              <a:rPr lang="en-IN" dirty="0">
                <a:latin typeface="Verdana" panose="020B0604030504040204" pitchFamily="34" charset="0"/>
                <a:ea typeface="Verdana" panose="020B0604030504040204" pitchFamily="34" charset="0"/>
              </a:rPr>
              <a:t> EEG-level signals via XADC.</a:t>
            </a:r>
          </a:p>
          <a:p>
            <a:pPr marL="285750" indent="-28575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IN" dirty="0">
                <a:latin typeface="Verdana" panose="020B0604030504040204" pitchFamily="34" charset="0"/>
                <a:ea typeface="Verdana" panose="020B0604030504040204" pitchFamily="34" charset="0"/>
              </a:rPr>
              <a:t>Confirms our hardware connections (signal, ground, offsets) are correct before integrating real EEG amplifier output.</a:t>
            </a:r>
          </a:p>
          <a:p>
            <a:pPr marL="285750" indent="-28575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IN" dirty="0">
                <a:latin typeface="Verdana" panose="020B0604030504040204" pitchFamily="34" charset="0"/>
                <a:ea typeface="Verdana" panose="020B0604030504040204" pitchFamily="34" charset="0"/>
              </a:rPr>
              <a:t>Validates the input path required for phase 2 signal processing.</a:t>
            </a:r>
          </a:p>
          <a:p>
            <a:pPr marL="285750" indent="-28575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IN" dirty="0">
                <a:latin typeface="Verdana" panose="020B0604030504040204" pitchFamily="34" charset="0"/>
                <a:ea typeface="Verdana" panose="020B0604030504040204" pitchFamily="34" charset="0"/>
              </a:rPr>
              <a:t>Avoids hardware damage by correct voltage scaling (critical for EEG levels).</a:t>
            </a:r>
          </a:p>
          <a:p>
            <a:pPr marL="285750" indent="-285750">
              <a:buFont typeface="Wingdings" panose="05000000000000000000" pitchFamily="2" charset="2"/>
              <a:buChar char="§"/>
            </a:pPr>
            <a:endParaRPr lang="en-IN"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
            </a:pPr>
            <a:r>
              <a:rPr lang="en-IN" dirty="0">
                <a:latin typeface="Verdana" panose="020B0604030504040204" pitchFamily="34" charset="0"/>
                <a:ea typeface="Verdana" panose="020B0604030504040204" pitchFamily="34" charset="0"/>
              </a:rPr>
              <a:t>Gives confidence that next steps—ADC reading, RISC-V processing, alert logic—will work as expected.</a:t>
            </a:r>
          </a:p>
        </p:txBody>
      </p:sp>
    </p:spTree>
    <p:extLst>
      <p:ext uri="{BB962C8B-B14F-4D97-AF65-F5344CB8AC3E}">
        <p14:creationId xmlns:p14="http://schemas.microsoft.com/office/powerpoint/2010/main" val="1329568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lvl="0"/>
            <a:r>
              <a:rPr lang="en-US" dirty="0">
                <a:latin typeface="Verdana" panose="020B0604030504040204" pitchFamily="34" charset="0"/>
                <a:ea typeface="Verdana" panose="020B0604030504040204" pitchFamily="34" charset="0"/>
              </a:rPr>
              <a:t>The project successfully developed a robust system by integrating a high-performance RISC-V processor with advanced machine learning on an FPGA. The processor's 5-stage pipeline efficiently handled instruction execution and managed data flow. Key to its reliability is the hazard unit, which ensures correct program execution by mitigating data dependencies via forwarding and stalling. For diagnostics, the system utilizes a Hybrid Deep Learning/Ensemble Classifier to process EEG signals and classify sleep disorders with high accuracy, up to 96.78%. This validates a model for creating a low-power, high-accuracy System-on-a-Chip (SoC) solution suitable for wearable health monitoring.</a:t>
            </a:r>
            <a:r>
              <a:rPr lang="en-IN" dirty="0">
                <a:latin typeface="Verdana" panose="020B0604030504040204" pitchFamily="34" charset="0"/>
                <a:ea typeface="Verdana" panose="020B0604030504040204" pitchFamily="34" charset="0"/>
              </a:rPr>
              <a:t>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panose="020B0604030504040204" pitchFamily="34" charset="0"/>
              <a:ea typeface="Verdana" panose="020B0604030504040204" pitchFamily="34" charset="0"/>
            </a:endParaRPr>
          </a:p>
          <a:p>
            <a:r>
              <a:rPr lang="en-US" dirty="0">
                <a:latin typeface="Verdana" panose="020B0604030504040204" pitchFamily="34" charset="0"/>
                <a:ea typeface="Verdana" panose="020B0604030504040204" pitchFamily="34" charset="0"/>
              </a:rPr>
              <a:t>Future development should prioritize clinical readiness and further optimization. The next step is to integrate the FPGA design with a wireless headset band and communication protocol for real-time testing using genuine clinical data. On the hardware side, efficiency can be boosted by implementing a dynamic branch predictor and exploring new cache architectures and memory hierarchies to reduce memory access time. Finally, further testing on a larger, more diverse clinical dataset is required to ensure the model's reliability and generalizability across various patient populations.</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3742</TotalTime>
  <Words>2058</Words>
  <Application>Microsoft Office PowerPoint</Application>
  <PresentationFormat>Widescreen</PresentationFormat>
  <Paragraphs>277</Paragraphs>
  <Slides>17</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Arial</vt:lpstr>
      <vt:lpstr>Plus Jakarta Sans</vt:lpstr>
      <vt:lpstr>Calibri</vt:lpstr>
      <vt:lpstr>Aharoni</vt:lpstr>
      <vt:lpstr>Verdana</vt:lpstr>
      <vt:lpstr>Open Sans</vt:lpstr>
      <vt:lpstr>Wingdings</vt:lpstr>
      <vt:lpstr>Arial Rounded MT Bold</vt:lpstr>
      <vt:lpstr>Poppins SemiBold</vt:lpstr>
      <vt:lpstr>Montserrat Medium</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Sahana Sajjan</cp:lastModifiedBy>
  <cp:revision>45</cp:revision>
  <dcterms:created xsi:type="dcterms:W3CDTF">2022-05-23T07:15:42Z</dcterms:created>
  <dcterms:modified xsi:type="dcterms:W3CDTF">2025-11-21T02:58:09Z</dcterms:modified>
</cp:coreProperties>
</file>